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9"/>
  </p:notesMasterIdLst>
  <p:sldIdLst>
    <p:sldId id="256" r:id="rId6"/>
    <p:sldId id="257" r:id="rId7"/>
    <p:sldId id="258" r:id="rId8"/>
    <p:sldId id="259" r:id="rId9"/>
    <p:sldId id="260" r:id="rId10"/>
    <p:sldId id="261" r:id="rId11"/>
    <p:sldId id="262" r:id="rId12"/>
    <p:sldId id="263" r:id="rId13"/>
    <p:sldId id="264" r:id="rId14"/>
  </p:sldIdLst>
  <p:sldSz cx="18288000" cy="10287000"/>
  <p:notesSz cx="6858000" cy="9144000"/>
  <p:embeddedFontLst>
    <p:embeddedFont>
      <p:font typeface="Calibri (MS) Bold" charset="1" panose="020F0702030404030204"/>
      <p:regular r:id="rId15"/>
    </p:embeddedFont>
    <p:embeddedFont>
      <p:font typeface="Times New Roman MT Bold" charset="1" panose="02030802070405020303"/>
      <p:regular r:id="rId16"/>
    </p:embeddedFont>
    <p:embeddedFont>
      <p:font typeface="Times New Roman MT" charset="1" panose="02030502070405020303"/>
      <p:regular r:id="rId17"/>
    </p:embeddedFont>
    <p:embeddedFont>
      <p:font typeface="Calibri (MS)" charset="1" panose="020F0502020204030204"/>
      <p:regular r:id="rId18"/>
    </p:embeddedFont>
    <p:embeddedFont>
      <p:font typeface="Arial MT Pro Bold" charset="1" panose="020B0802020202020204"/>
      <p:regular r:id="rId22"/>
    </p:embeddedFont>
    <p:embeddedFont>
      <p:font typeface="Arial MT Pro" charset="1" panose="020B0502020202020204"/>
      <p:regular r:id="rId23"/>
    </p:embeddedFont>
    <p:embeddedFont>
      <p:font typeface="Arimo" charset="1" panose="020B0604020202020204"/>
      <p:regular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notesMasters/notesMaster1.xml" Type="http://schemas.openxmlformats.org/officeDocument/2006/relationships/notesMaster"/><Relationship Id="rId2" Target="presProps.xml" Type="http://schemas.openxmlformats.org/officeDocument/2006/relationships/presProps"/><Relationship Id="rId20" Target="theme/theme2.xml" Type="http://schemas.openxmlformats.org/officeDocument/2006/relationships/theme"/><Relationship Id="rId21" Target="notesSlides/notesSlide1.xml" Type="http://schemas.openxmlformats.org/officeDocument/2006/relationships/notesSlide"/><Relationship Id="rId22" Target="fonts/font22.fntdata" Type="http://schemas.openxmlformats.org/officeDocument/2006/relationships/font"/><Relationship Id="rId23" Target="fonts/font23.fntdata" Type="http://schemas.openxmlformats.org/officeDocument/2006/relationships/font"/><Relationship Id="rId24" Target="notesSlides/notesSlide2.xml" Type="http://schemas.openxmlformats.org/officeDocument/2006/relationships/notesSlide"/><Relationship Id="rId25" Target="fonts/font25.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7.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7.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embeddings/oleObject1.bin" Type="http://schemas.openxmlformats.org/officeDocument/2006/relationships/oleObject"/><Relationship Id="rId4" Target="../media/image7.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https://www.deccanherald.com/india/karnataka/bengaluru/metro-ph-3a-to-cost-rs-28-405-cr-35-funded-by-loans-3080860?utm_source=chatgpt.com" TargetMode="External" Type="http://schemas.openxmlformats.org/officeDocument/2006/relationships/hyperlink"/><Relationship Id="rId4" Target="https://www.railway-technology.com/features/the-most-expensive-rail-construction-projects-in-2023/?utm_source=chatgpt.com" TargetMode="External" Type="http://schemas.openxmlformats.org/officeDocument/2006/relationships/hyperlink"/></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2171818" y="4794251"/>
            <a:ext cx="13716000" cy="2919413"/>
          </a:xfrm>
          <a:prstGeom prst="rect">
            <a:avLst/>
          </a:prstGeom>
        </p:spPr>
        <p:txBody>
          <a:bodyPr anchor="t" rtlCol="false" tIns="0" lIns="0" bIns="0" rIns="0">
            <a:spAutoFit/>
          </a:bodyPr>
          <a:lstStyle/>
          <a:p>
            <a:pPr algn="ctr">
              <a:lnSpc>
                <a:spcPts val="5040"/>
              </a:lnSpc>
            </a:pPr>
            <a:r>
              <a:rPr lang="en-US" sz="4200" b="true">
                <a:solidFill>
                  <a:srgbClr val="1F497D"/>
                </a:solidFill>
                <a:latin typeface="Calibri (MS) Bold"/>
                <a:ea typeface="Calibri (MS) Bold"/>
                <a:cs typeface="Calibri (MS) Bold"/>
                <a:sym typeface="Calibri (MS) Bold"/>
              </a:rPr>
              <a:t>Dynamic Charging of EV using Magnetic Resonance Charging</a:t>
            </a:r>
          </a:p>
          <a:p>
            <a:pPr algn="ctr">
              <a:lnSpc>
                <a:spcPts val="4425"/>
              </a:lnSpc>
            </a:pPr>
            <a:r>
              <a:rPr lang="en-US" b="true" sz="3000" u="sng">
                <a:solidFill>
                  <a:srgbClr val="E46C0A"/>
                </a:solidFill>
                <a:latin typeface="Times New Roman MT Bold"/>
                <a:ea typeface="Times New Roman MT Bold"/>
                <a:cs typeface="Times New Roman MT Bold"/>
                <a:sym typeface="Times New Roman MT Bold"/>
              </a:rPr>
              <a:t>Presented by </a:t>
            </a:r>
            <a:r>
              <a:rPr lang="en-US" sz="3000" b="true">
                <a:solidFill>
                  <a:srgbClr val="E46C0A"/>
                </a:solidFill>
                <a:latin typeface="Times New Roman MT Bold"/>
                <a:ea typeface="Times New Roman MT Bold"/>
                <a:cs typeface="Times New Roman MT Bold"/>
                <a:sym typeface="Times New Roman MT Bold"/>
              </a:rPr>
              <a:t> </a:t>
            </a:r>
          </a:p>
          <a:p>
            <a:pPr algn="ctr">
              <a:lnSpc>
                <a:spcPts val="4425"/>
              </a:lnSpc>
            </a:pPr>
            <a:r>
              <a:rPr lang="en-US" sz="3000" b="true">
                <a:solidFill>
                  <a:srgbClr val="1F497D"/>
                </a:solidFill>
                <a:latin typeface="Times New Roman MT Bold"/>
                <a:ea typeface="Times New Roman MT Bold"/>
                <a:cs typeface="Times New Roman MT Bold"/>
                <a:sym typeface="Times New Roman MT Bold"/>
              </a:rPr>
              <a:t>Shrimathi G - 2127220601070</a:t>
            </a:r>
          </a:p>
          <a:p>
            <a:pPr algn="ctr">
              <a:lnSpc>
                <a:spcPts val="4425"/>
              </a:lnSpc>
            </a:pPr>
            <a:r>
              <a:rPr lang="en-US" sz="3000" b="true">
                <a:solidFill>
                  <a:srgbClr val="1F497D"/>
                </a:solidFill>
                <a:latin typeface="Times New Roman MT Bold"/>
                <a:ea typeface="Times New Roman MT Bold"/>
                <a:cs typeface="Times New Roman MT Bold"/>
                <a:sym typeface="Times New Roman MT Bold"/>
              </a:rPr>
              <a:t>Sanjay Kumar V - 2127220601063</a:t>
            </a:r>
          </a:p>
          <a:p>
            <a:pPr algn="ctr">
              <a:lnSpc>
                <a:spcPts val="4425"/>
              </a:lnSpc>
            </a:pPr>
            <a:r>
              <a:rPr lang="en-US" sz="3000" b="true">
                <a:solidFill>
                  <a:srgbClr val="1F497D"/>
                </a:solidFill>
                <a:latin typeface="Times New Roman MT Bold"/>
                <a:ea typeface="Times New Roman MT Bold"/>
                <a:cs typeface="Times New Roman MT Bold"/>
                <a:sym typeface="Times New Roman MT Bold"/>
              </a:rPr>
              <a:t>Srinivasan U - 2127220601312</a:t>
            </a:r>
          </a:p>
        </p:txBody>
      </p:sp>
      <p:sp>
        <p:nvSpPr>
          <p:cNvPr name="Freeform 3" id="3"/>
          <p:cNvSpPr/>
          <p:nvPr/>
        </p:nvSpPr>
        <p:spPr>
          <a:xfrm flipH="false" flipV="false" rot="0">
            <a:off x="18021299" y="-19158"/>
            <a:ext cx="266938" cy="1638538"/>
          </a:xfrm>
          <a:custGeom>
            <a:avLst/>
            <a:gdLst/>
            <a:ahLst/>
            <a:cxnLst/>
            <a:rect r="r" b="b" t="t" l="l"/>
            <a:pathLst>
              <a:path h="1638538" w="266938">
                <a:moveTo>
                  <a:pt x="0" y="0"/>
                </a:moveTo>
                <a:lnTo>
                  <a:pt x="266938" y="0"/>
                </a:lnTo>
                <a:lnTo>
                  <a:pt x="266938" y="1638538"/>
                </a:lnTo>
                <a:lnTo>
                  <a:pt x="0" y="163853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a:grpSpLocks noChangeAspect="true"/>
          </p:cNvGrpSpPr>
          <p:nvPr/>
        </p:nvGrpSpPr>
        <p:grpSpPr>
          <a:xfrm rot="0">
            <a:off x="2483645" y="1153610"/>
            <a:ext cx="13320712" cy="2971800"/>
            <a:chOff x="0" y="0"/>
            <a:chExt cx="17760950" cy="3962400"/>
          </a:xfrm>
        </p:grpSpPr>
        <p:sp>
          <p:nvSpPr>
            <p:cNvPr name="Freeform 5" id="5"/>
            <p:cNvSpPr/>
            <p:nvPr/>
          </p:nvSpPr>
          <p:spPr>
            <a:xfrm flipH="false" flipV="false" rot="0">
              <a:off x="0" y="0"/>
              <a:ext cx="17760950" cy="3962400"/>
            </a:xfrm>
            <a:custGeom>
              <a:avLst/>
              <a:gdLst/>
              <a:ahLst/>
              <a:cxnLst/>
              <a:rect r="r" b="b" t="t" l="l"/>
              <a:pathLst>
                <a:path h="3962400" w="17760950">
                  <a:moveTo>
                    <a:pt x="0" y="0"/>
                  </a:moveTo>
                  <a:lnTo>
                    <a:pt x="17760950" y="0"/>
                  </a:lnTo>
                  <a:lnTo>
                    <a:pt x="17760950" y="3962400"/>
                  </a:lnTo>
                  <a:lnTo>
                    <a:pt x="0" y="3962400"/>
                  </a:lnTo>
                  <a:lnTo>
                    <a:pt x="0" y="0"/>
                  </a:lnTo>
                  <a:close/>
                </a:path>
              </a:pathLst>
            </a:custGeom>
            <a:blipFill>
              <a:blip r:embed="rId4"/>
              <a:stretch>
                <a:fillRect l="0" t="0" r="-598" b="0"/>
              </a:stretch>
            </a:blipFill>
          </p:spPr>
        </p:sp>
      </p:grpSp>
      <p:sp>
        <p:nvSpPr>
          <p:cNvPr name="Freeform 6" id="6"/>
          <p:cNvSpPr/>
          <p:nvPr/>
        </p:nvSpPr>
        <p:spPr>
          <a:xfrm flipH="false" flipV="false" rot="0">
            <a:off x="0" y="9720686"/>
            <a:ext cx="18288000" cy="566358"/>
          </a:xfrm>
          <a:custGeom>
            <a:avLst/>
            <a:gdLst/>
            <a:ahLst/>
            <a:cxnLst/>
            <a:rect r="r" b="b" t="t" l="l"/>
            <a:pathLst>
              <a:path h="566358" w="18288000">
                <a:moveTo>
                  <a:pt x="0" y="0"/>
                </a:moveTo>
                <a:lnTo>
                  <a:pt x="18288000" y="0"/>
                </a:lnTo>
                <a:lnTo>
                  <a:pt x="18288000" y="566358"/>
                </a:lnTo>
                <a:lnTo>
                  <a:pt x="0" y="56635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7" id="7"/>
          <p:cNvGrpSpPr>
            <a:grpSpLocks noChangeAspect="true"/>
          </p:cNvGrpSpPr>
          <p:nvPr/>
        </p:nvGrpSpPr>
        <p:grpSpPr>
          <a:xfrm rot="0">
            <a:off x="15477785" y="7086600"/>
            <a:ext cx="2286000" cy="2171700"/>
            <a:chOff x="0" y="0"/>
            <a:chExt cx="3048000" cy="2895600"/>
          </a:xfrm>
        </p:grpSpPr>
        <p:sp>
          <p:nvSpPr>
            <p:cNvPr name="Freeform 8" id="8" descr="Sri Venkateswara College of Engineering"/>
            <p:cNvSpPr/>
            <p:nvPr/>
          </p:nvSpPr>
          <p:spPr>
            <a:xfrm flipH="true" flipV="true" rot="-10800000">
              <a:off x="0" y="0"/>
              <a:ext cx="3048000" cy="2895600"/>
            </a:xfrm>
            <a:custGeom>
              <a:avLst/>
              <a:gdLst/>
              <a:ahLst/>
              <a:cxnLst/>
              <a:rect r="r" b="b" t="t" l="l"/>
              <a:pathLst>
                <a:path h="2895600" w="3048000">
                  <a:moveTo>
                    <a:pt x="0" y="0"/>
                  </a:moveTo>
                  <a:lnTo>
                    <a:pt x="3048000" y="0"/>
                  </a:lnTo>
                  <a:lnTo>
                    <a:pt x="3048000" y="2895600"/>
                  </a:lnTo>
                  <a:lnTo>
                    <a:pt x="0" y="2895600"/>
                  </a:lnTo>
                  <a:lnTo>
                    <a:pt x="0" y="0"/>
                  </a:lnTo>
                  <a:close/>
                </a:path>
              </a:pathLst>
            </a:custGeom>
            <a:blipFill>
              <a:blip r:embed="rId7"/>
              <a:stretch>
                <a:fillRect l="0" t="-2442" r="0" b="-2820"/>
              </a:stretch>
            </a:blipFill>
          </p:spPr>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7068800" cy="1600200"/>
            <a:chOff x="0" y="0"/>
            <a:chExt cx="22758400" cy="2133600"/>
          </a:xfrm>
        </p:grpSpPr>
        <p:sp>
          <p:nvSpPr>
            <p:cNvPr name="Freeform 3" id="3"/>
            <p:cNvSpPr/>
            <p:nvPr/>
          </p:nvSpPr>
          <p:spPr>
            <a:xfrm flipH="false" flipV="false" rot="0">
              <a:off x="0" y="0"/>
              <a:ext cx="22757764" cy="2132838"/>
            </a:xfrm>
            <a:custGeom>
              <a:avLst/>
              <a:gdLst/>
              <a:ahLst/>
              <a:cxnLst/>
              <a:rect r="r" b="b" t="t" l="l"/>
              <a:pathLst>
                <a:path h="2132838" w="22757764">
                  <a:moveTo>
                    <a:pt x="0" y="2132838"/>
                  </a:moveTo>
                  <a:lnTo>
                    <a:pt x="22757764" y="2132838"/>
                  </a:lnTo>
                  <a:lnTo>
                    <a:pt x="22757764" y="0"/>
                  </a:lnTo>
                  <a:lnTo>
                    <a:pt x="0" y="0"/>
                  </a:lnTo>
                  <a:lnTo>
                    <a:pt x="0" y="2132838"/>
                  </a:lnTo>
                  <a:close/>
                </a:path>
              </a:pathLst>
            </a:custGeom>
            <a:solidFill>
              <a:srgbClr val="1D24AD"/>
            </a:solidFill>
          </p:spPr>
        </p:sp>
      </p:grpSp>
      <p:grpSp>
        <p:nvGrpSpPr>
          <p:cNvPr name="Group 4" id="4"/>
          <p:cNvGrpSpPr/>
          <p:nvPr/>
        </p:nvGrpSpPr>
        <p:grpSpPr>
          <a:xfrm rot="0">
            <a:off x="17068800" y="0"/>
            <a:ext cx="1219200" cy="1600200"/>
            <a:chOff x="0" y="0"/>
            <a:chExt cx="1625600" cy="2133600"/>
          </a:xfrm>
        </p:grpSpPr>
        <p:sp>
          <p:nvSpPr>
            <p:cNvPr name="Freeform 5" id="5"/>
            <p:cNvSpPr/>
            <p:nvPr/>
          </p:nvSpPr>
          <p:spPr>
            <a:xfrm flipH="false" flipV="false" rot="0">
              <a:off x="0" y="0"/>
              <a:ext cx="1624584" cy="2132838"/>
            </a:xfrm>
            <a:custGeom>
              <a:avLst/>
              <a:gdLst/>
              <a:ahLst/>
              <a:cxnLst/>
              <a:rect r="r" b="b" t="t" l="l"/>
              <a:pathLst>
                <a:path h="2132838" w="1624584">
                  <a:moveTo>
                    <a:pt x="1624584" y="0"/>
                  </a:moveTo>
                  <a:lnTo>
                    <a:pt x="0" y="0"/>
                  </a:lnTo>
                  <a:lnTo>
                    <a:pt x="0" y="2132838"/>
                  </a:lnTo>
                  <a:lnTo>
                    <a:pt x="1624584" y="2132838"/>
                  </a:lnTo>
                  <a:lnTo>
                    <a:pt x="1624584" y="0"/>
                  </a:lnTo>
                  <a:close/>
                </a:path>
              </a:pathLst>
            </a:custGeom>
            <a:solidFill>
              <a:srgbClr val="E99213"/>
            </a:solidFill>
          </p:spPr>
        </p:sp>
      </p:grpSp>
      <p:grpSp>
        <p:nvGrpSpPr>
          <p:cNvPr name="Group 6" id="6"/>
          <p:cNvGrpSpPr/>
          <p:nvPr/>
        </p:nvGrpSpPr>
        <p:grpSpPr>
          <a:xfrm rot="0">
            <a:off x="17049631" y="-19169"/>
            <a:ext cx="1257538" cy="1638538"/>
            <a:chOff x="0" y="0"/>
            <a:chExt cx="1676718" cy="2184718"/>
          </a:xfrm>
        </p:grpSpPr>
        <p:sp>
          <p:nvSpPr>
            <p:cNvPr name="Freeform 7" id="7"/>
            <p:cNvSpPr/>
            <p:nvPr/>
          </p:nvSpPr>
          <p:spPr>
            <a:xfrm flipH="false" flipV="false" rot="0">
              <a:off x="0" y="0"/>
              <a:ext cx="1675638" cy="2183892"/>
            </a:xfrm>
            <a:custGeom>
              <a:avLst/>
              <a:gdLst/>
              <a:ahLst/>
              <a:cxnLst/>
              <a:rect r="r" b="b" t="t" l="l"/>
              <a:pathLst>
                <a:path h="2183892" w="1675638">
                  <a:moveTo>
                    <a:pt x="25527" y="0"/>
                  </a:moveTo>
                  <a:lnTo>
                    <a:pt x="1650111" y="0"/>
                  </a:lnTo>
                  <a:cubicBezTo>
                    <a:pt x="1664208" y="0"/>
                    <a:pt x="1675638" y="11430"/>
                    <a:pt x="1675638" y="25527"/>
                  </a:cubicBezTo>
                  <a:lnTo>
                    <a:pt x="1675638" y="2158365"/>
                  </a:lnTo>
                  <a:cubicBezTo>
                    <a:pt x="1675638" y="2172462"/>
                    <a:pt x="1664208" y="2183892"/>
                    <a:pt x="1650111" y="2183892"/>
                  </a:cubicBezTo>
                  <a:lnTo>
                    <a:pt x="25527" y="2183892"/>
                  </a:lnTo>
                  <a:cubicBezTo>
                    <a:pt x="11430" y="2183892"/>
                    <a:pt x="0" y="2172462"/>
                    <a:pt x="0" y="2158365"/>
                  </a:cubicBezTo>
                  <a:lnTo>
                    <a:pt x="0" y="25527"/>
                  </a:lnTo>
                  <a:cubicBezTo>
                    <a:pt x="0" y="11430"/>
                    <a:pt x="11430" y="0"/>
                    <a:pt x="25527" y="0"/>
                  </a:cubicBezTo>
                  <a:moveTo>
                    <a:pt x="25527" y="51181"/>
                  </a:moveTo>
                  <a:lnTo>
                    <a:pt x="25527" y="25527"/>
                  </a:lnTo>
                  <a:lnTo>
                    <a:pt x="51181" y="25527"/>
                  </a:lnTo>
                  <a:lnTo>
                    <a:pt x="51181" y="2158365"/>
                  </a:lnTo>
                  <a:lnTo>
                    <a:pt x="25527" y="2158365"/>
                  </a:lnTo>
                  <a:lnTo>
                    <a:pt x="25527" y="2132838"/>
                  </a:lnTo>
                  <a:lnTo>
                    <a:pt x="1650111" y="2132838"/>
                  </a:lnTo>
                  <a:lnTo>
                    <a:pt x="1650111" y="2158365"/>
                  </a:lnTo>
                  <a:lnTo>
                    <a:pt x="1624584" y="2158365"/>
                  </a:lnTo>
                  <a:lnTo>
                    <a:pt x="1624584" y="25527"/>
                  </a:lnTo>
                  <a:lnTo>
                    <a:pt x="1650111" y="25527"/>
                  </a:lnTo>
                  <a:lnTo>
                    <a:pt x="1650111" y="51181"/>
                  </a:lnTo>
                  <a:lnTo>
                    <a:pt x="25527" y="51181"/>
                  </a:lnTo>
                  <a:close/>
                </a:path>
              </a:pathLst>
            </a:custGeom>
            <a:solidFill>
              <a:srgbClr val="E99213"/>
            </a:solidFill>
          </p:spPr>
        </p:sp>
      </p:grpSp>
      <p:grpSp>
        <p:nvGrpSpPr>
          <p:cNvPr name="Group 8" id="8"/>
          <p:cNvGrpSpPr/>
          <p:nvPr/>
        </p:nvGrpSpPr>
        <p:grpSpPr>
          <a:xfrm rot="0">
            <a:off x="0" y="9944100"/>
            <a:ext cx="14325600" cy="142875"/>
            <a:chOff x="0" y="0"/>
            <a:chExt cx="19100800" cy="190500"/>
          </a:xfrm>
        </p:grpSpPr>
        <p:sp>
          <p:nvSpPr>
            <p:cNvPr name="Freeform 9" id="9"/>
            <p:cNvSpPr/>
            <p:nvPr/>
          </p:nvSpPr>
          <p:spPr>
            <a:xfrm flipH="false" flipV="false" rot="0">
              <a:off x="0" y="0"/>
              <a:ext cx="19100419" cy="189484"/>
            </a:xfrm>
            <a:custGeom>
              <a:avLst/>
              <a:gdLst/>
              <a:ahLst/>
              <a:cxnLst/>
              <a:rect r="r" b="b" t="t" l="l"/>
              <a:pathLst>
                <a:path h="189484" w="19100419">
                  <a:moveTo>
                    <a:pt x="19100419" y="0"/>
                  </a:moveTo>
                  <a:lnTo>
                    <a:pt x="0" y="0"/>
                  </a:lnTo>
                  <a:lnTo>
                    <a:pt x="0" y="189484"/>
                  </a:lnTo>
                  <a:lnTo>
                    <a:pt x="19100419" y="189484"/>
                  </a:lnTo>
                  <a:lnTo>
                    <a:pt x="19100419" y="0"/>
                  </a:lnTo>
                  <a:close/>
                </a:path>
              </a:pathLst>
            </a:custGeom>
            <a:solidFill>
              <a:srgbClr val="E99213"/>
            </a:solidFill>
          </p:spPr>
        </p:sp>
      </p:grpSp>
      <p:grpSp>
        <p:nvGrpSpPr>
          <p:cNvPr name="Group 10" id="10"/>
          <p:cNvGrpSpPr/>
          <p:nvPr/>
        </p:nvGrpSpPr>
        <p:grpSpPr>
          <a:xfrm rot="0">
            <a:off x="0" y="9715500"/>
            <a:ext cx="14325600" cy="142875"/>
            <a:chOff x="0" y="0"/>
            <a:chExt cx="19100800" cy="190500"/>
          </a:xfrm>
        </p:grpSpPr>
        <p:sp>
          <p:nvSpPr>
            <p:cNvPr name="Freeform 11" id="11"/>
            <p:cNvSpPr/>
            <p:nvPr/>
          </p:nvSpPr>
          <p:spPr>
            <a:xfrm flipH="false" flipV="false" rot="0">
              <a:off x="0" y="0"/>
              <a:ext cx="19100419" cy="189484"/>
            </a:xfrm>
            <a:custGeom>
              <a:avLst/>
              <a:gdLst/>
              <a:ahLst/>
              <a:cxnLst/>
              <a:rect r="r" b="b" t="t" l="l"/>
              <a:pathLst>
                <a:path h="189484" w="19100419">
                  <a:moveTo>
                    <a:pt x="19100419" y="0"/>
                  </a:moveTo>
                  <a:lnTo>
                    <a:pt x="0" y="0"/>
                  </a:lnTo>
                  <a:lnTo>
                    <a:pt x="0" y="189484"/>
                  </a:lnTo>
                  <a:lnTo>
                    <a:pt x="19100419" y="189484"/>
                  </a:lnTo>
                  <a:lnTo>
                    <a:pt x="19100419" y="0"/>
                  </a:lnTo>
                  <a:close/>
                </a:path>
              </a:pathLst>
            </a:custGeom>
            <a:solidFill>
              <a:srgbClr val="1D24AD"/>
            </a:solidFill>
          </p:spPr>
        </p:sp>
      </p:grpSp>
      <p:grpSp>
        <p:nvGrpSpPr>
          <p:cNvPr name="Group 12" id="12"/>
          <p:cNvGrpSpPr/>
          <p:nvPr/>
        </p:nvGrpSpPr>
        <p:grpSpPr>
          <a:xfrm rot="0">
            <a:off x="16459200" y="9944100"/>
            <a:ext cx="1828800" cy="114300"/>
            <a:chOff x="0" y="0"/>
            <a:chExt cx="2438400" cy="152400"/>
          </a:xfrm>
        </p:grpSpPr>
        <p:sp>
          <p:nvSpPr>
            <p:cNvPr name="Freeform 13" id="13"/>
            <p:cNvSpPr/>
            <p:nvPr/>
          </p:nvSpPr>
          <p:spPr>
            <a:xfrm flipH="false" flipV="false" rot="0">
              <a:off x="0" y="0"/>
              <a:ext cx="2437638" cy="151384"/>
            </a:xfrm>
            <a:custGeom>
              <a:avLst/>
              <a:gdLst/>
              <a:ahLst/>
              <a:cxnLst/>
              <a:rect r="r" b="b" t="t" l="l"/>
              <a:pathLst>
                <a:path h="151384" w="2437638">
                  <a:moveTo>
                    <a:pt x="2437638" y="0"/>
                  </a:moveTo>
                  <a:lnTo>
                    <a:pt x="0" y="0"/>
                  </a:lnTo>
                  <a:lnTo>
                    <a:pt x="0" y="151384"/>
                  </a:lnTo>
                  <a:lnTo>
                    <a:pt x="2437638" y="151384"/>
                  </a:lnTo>
                  <a:lnTo>
                    <a:pt x="2437638" y="0"/>
                  </a:lnTo>
                  <a:close/>
                </a:path>
              </a:pathLst>
            </a:custGeom>
            <a:solidFill>
              <a:srgbClr val="E99213"/>
            </a:solidFill>
          </p:spPr>
        </p:sp>
      </p:grpSp>
      <p:grpSp>
        <p:nvGrpSpPr>
          <p:cNvPr name="Group 14" id="14"/>
          <p:cNvGrpSpPr/>
          <p:nvPr/>
        </p:nvGrpSpPr>
        <p:grpSpPr>
          <a:xfrm rot="0">
            <a:off x="16459200" y="9715500"/>
            <a:ext cx="1828800" cy="114300"/>
            <a:chOff x="0" y="0"/>
            <a:chExt cx="2438400" cy="152400"/>
          </a:xfrm>
        </p:grpSpPr>
        <p:sp>
          <p:nvSpPr>
            <p:cNvPr name="Freeform 15" id="15"/>
            <p:cNvSpPr/>
            <p:nvPr/>
          </p:nvSpPr>
          <p:spPr>
            <a:xfrm flipH="false" flipV="false" rot="0">
              <a:off x="0" y="0"/>
              <a:ext cx="2437638" cy="151384"/>
            </a:xfrm>
            <a:custGeom>
              <a:avLst/>
              <a:gdLst/>
              <a:ahLst/>
              <a:cxnLst/>
              <a:rect r="r" b="b" t="t" l="l"/>
              <a:pathLst>
                <a:path h="151384" w="2437638">
                  <a:moveTo>
                    <a:pt x="2437638" y="0"/>
                  </a:moveTo>
                  <a:lnTo>
                    <a:pt x="0" y="0"/>
                  </a:lnTo>
                  <a:lnTo>
                    <a:pt x="0" y="151384"/>
                  </a:lnTo>
                  <a:lnTo>
                    <a:pt x="2437638" y="151384"/>
                  </a:lnTo>
                  <a:lnTo>
                    <a:pt x="2437638" y="0"/>
                  </a:lnTo>
                  <a:close/>
                </a:path>
              </a:pathLst>
            </a:custGeom>
            <a:solidFill>
              <a:srgbClr val="1D24AD"/>
            </a:solidFill>
          </p:spPr>
        </p:sp>
      </p:grpSp>
      <p:sp>
        <p:nvSpPr>
          <p:cNvPr name="TextBox 16" id="16"/>
          <p:cNvSpPr txBox="true"/>
          <p:nvPr/>
        </p:nvSpPr>
        <p:spPr>
          <a:xfrm rot="0">
            <a:off x="1028700" y="2765145"/>
            <a:ext cx="16230600" cy="4259580"/>
          </a:xfrm>
          <a:prstGeom prst="rect">
            <a:avLst/>
          </a:prstGeom>
        </p:spPr>
        <p:txBody>
          <a:bodyPr anchor="t" rtlCol="false" tIns="0" lIns="0" bIns="0" rIns="0">
            <a:spAutoFit/>
          </a:bodyPr>
          <a:lstStyle/>
          <a:p>
            <a:pPr algn="l">
              <a:lnSpc>
                <a:spcPts val="4425"/>
              </a:lnSpc>
            </a:pPr>
            <a:r>
              <a:rPr lang="en-US" sz="4200">
                <a:solidFill>
                  <a:srgbClr val="000000"/>
                </a:solidFill>
                <a:latin typeface="Times New Roman MT"/>
                <a:ea typeface="Times New Roman MT"/>
                <a:cs typeface="Times New Roman MT"/>
                <a:sym typeface="Times New Roman MT"/>
              </a:rPr>
              <a:t>1. </a:t>
            </a:r>
            <a:r>
              <a:rPr lang="en-US" sz="4200" b="true">
                <a:solidFill>
                  <a:srgbClr val="000000"/>
                </a:solidFill>
                <a:latin typeface="Times New Roman MT Bold"/>
                <a:ea typeface="Times New Roman MT Bold"/>
                <a:cs typeface="Times New Roman MT Bold"/>
                <a:sym typeface="Times New Roman MT Bold"/>
              </a:rPr>
              <a:t>Project Area </a:t>
            </a:r>
            <a:r>
              <a:rPr lang="en-US" sz="4200">
                <a:solidFill>
                  <a:srgbClr val="000000"/>
                </a:solidFill>
                <a:latin typeface="Times New Roman MT"/>
                <a:ea typeface="Times New Roman MT"/>
                <a:cs typeface="Times New Roman MT"/>
                <a:sym typeface="Times New Roman MT"/>
              </a:rPr>
              <a:t>    	     : EV/Embedded Systems/Power Electronics</a:t>
            </a:r>
          </a:p>
          <a:p>
            <a:pPr algn="l">
              <a:lnSpc>
                <a:spcPts val="1579"/>
              </a:lnSpc>
            </a:pPr>
          </a:p>
          <a:p>
            <a:pPr algn="l">
              <a:lnSpc>
                <a:spcPts val="4422"/>
              </a:lnSpc>
            </a:pPr>
            <a:r>
              <a:rPr lang="en-US" sz="4200">
                <a:solidFill>
                  <a:srgbClr val="000000"/>
                </a:solidFill>
                <a:latin typeface="Times New Roman MT"/>
                <a:ea typeface="Times New Roman MT"/>
                <a:cs typeface="Times New Roman MT"/>
                <a:sym typeface="Times New Roman MT"/>
              </a:rPr>
              <a:t>2. </a:t>
            </a:r>
            <a:r>
              <a:rPr lang="en-US" sz="4200" b="true">
                <a:solidFill>
                  <a:srgbClr val="000000"/>
                </a:solidFill>
                <a:latin typeface="Times New Roman MT Bold"/>
                <a:ea typeface="Times New Roman MT Bold"/>
                <a:cs typeface="Times New Roman MT Bold"/>
                <a:sym typeface="Times New Roman MT Bold"/>
              </a:rPr>
              <a:t>Project Title   </a:t>
            </a:r>
            <a:r>
              <a:rPr lang="en-US" sz="4200">
                <a:solidFill>
                  <a:srgbClr val="000000"/>
                </a:solidFill>
                <a:latin typeface="Times New Roman MT"/>
                <a:ea typeface="Times New Roman MT"/>
                <a:cs typeface="Times New Roman MT"/>
                <a:sym typeface="Times New Roman MT"/>
              </a:rPr>
              <a:t>         : Dynamic Charging of EV using Magnetic             </a:t>
            </a:r>
            <a:r>
              <a:rPr lang="en-US" sz="4200">
                <a:solidFill>
                  <a:srgbClr val="FFFFFF"/>
                </a:solidFill>
                <a:latin typeface="Times New Roman MT"/>
                <a:ea typeface="Times New Roman MT"/>
                <a:cs typeface="Times New Roman MT"/>
                <a:sym typeface="Times New Roman MT"/>
              </a:rPr>
              <a:t>.</a:t>
            </a:r>
            <a:r>
              <a:rPr lang="en-US" sz="4200">
                <a:solidFill>
                  <a:srgbClr val="000000"/>
                </a:solidFill>
                <a:latin typeface="Times New Roman MT"/>
                <a:ea typeface="Times New Roman MT"/>
                <a:cs typeface="Times New Roman MT"/>
                <a:sym typeface="Times New Roman MT"/>
              </a:rPr>
              <a:t>                                      </a:t>
            </a:r>
            <a:r>
              <a:rPr lang="en-US" sz="4200">
                <a:solidFill>
                  <a:srgbClr val="000000"/>
                </a:solidFill>
                <a:latin typeface="Times New Roman MT"/>
                <a:ea typeface="Times New Roman MT"/>
                <a:cs typeface="Times New Roman MT"/>
                <a:sym typeface="Times New Roman MT"/>
              </a:rPr>
              <a:t>Resonance Charging</a:t>
            </a:r>
          </a:p>
          <a:p>
            <a:pPr algn="l">
              <a:lnSpc>
                <a:spcPts val="1579"/>
              </a:lnSpc>
            </a:pPr>
          </a:p>
          <a:p>
            <a:pPr algn="l">
              <a:lnSpc>
                <a:spcPts val="4425"/>
              </a:lnSpc>
            </a:pPr>
            <a:r>
              <a:rPr lang="en-US" sz="4200">
                <a:solidFill>
                  <a:srgbClr val="000000"/>
                </a:solidFill>
                <a:latin typeface="Times New Roman MT"/>
                <a:ea typeface="Times New Roman MT"/>
                <a:cs typeface="Times New Roman MT"/>
                <a:sym typeface="Times New Roman MT"/>
              </a:rPr>
              <a:t>3. </a:t>
            </a:r>
            <a:r>
              <a:rPr lang="en-US" sz="4200" b="true">
                <a:solidFill>
                  <a:srgbClr val="000000"/>
                </a:solidFill>
                <a:latin typeface="Times New Roman MT Bold"/>
                <a:ea typeface="Times New Roman MT Bold"/>
                <a:cs typeface="Times New Roman MT Bold"/>
                <a:sym typeface="Times New Roman MT Bold"/>
              </a:rPr>
              <a:t>Place of Work  </a:t>
            </a:r>
            <a:r>
              <a:rPr lang="en-US" sz="4200">
                <a:solidFill>
                  <a:srgbClr val="000000"/>
                </a:solidFill>
                <a:latin typeface="Times New Roman MT"/>
                <a:ea typeface="Times New Roman MT"/>
                <a:cs typeface="Times New Roman MT"/>
                <a:sym typeface="Times New Roman MT"/>
              </a:rPr>
              <a:t>       : In-house</a:t>
            </a:r>
          </a:p>
          <a:p>
            <a:pPr algn="l">
              <a:lnSpc>
                <a:spcPts val="1579"/>
              </a:lnSpc>
            </a:pPr>
          </a:p>
          <a:p>
            <a:pPr algn="l">
              <a:lnSpc>
                <a:spcPts val="4425"/>
              </a:lnSpc>
            </a:pPr>
            <a:r>
              <a:rPr lang="en-US" sz="4200">
                <a:solidFill>
                  <a:srgbClr val="000000"/>
                </a:solidFill>
                <a:latin typeface="Times New Roman MT"/>
                <a:ea typeface="Times New Roman MT"/>
                <a:cs typeface="Times New Roman MT"/>
                <a:sym typeface="Times New Roman MT"/>
              </a:rPr>
              <a:t>4. </a:t>
            </a:r>
            <a:r>
              <a:rPr lang="en-US" sz="4200" b="true">
                <a:solidFill>
                  <a:srgbClr val="000000"/>
                </a:solidFill>
                <a:latin typeface="Times New Roman MT Bold"/>
                <a:ea typeface="Times New Roman MT Bold"/>
                <a:cs typeface="Times New Roman MT Bold"/>
                <a:sym typeface="Times New Roman MT Bold"/>
              </a:rPr>
              <a:t>Supervisor Name </a:t>
            </a:r>
            <a:r>
              <a:rPr lang="en-US" sz="4200">
                <a:solidFill>
                  <a:srgbClr val="000000"/>
                </a:solidFill>
                <a:latin typeface="Times New Roman MT"/>
                <a:ea typeface="Times New Roman MT"/>
                <a:cs typeface="Times New Roman MT"/>
                <a:sym typeface="Times New Roman MT"/>
              </a:rPr>
              <a:t>   : Dr. S Arulmozhi</a:t>
            </a:r>
          </a:p>
          <a:p>
            <a:pPr algn="l">
              <a:lnSpc>
                <a:spcPts val="1579"/>
              </a:lnSpc>
            </a:pPr>
          </a:p>
          <a:p>
            <a:pPr algn="l">
              <a:lnSpc>
                <a:spcPts val="4425"/>
              </a:lnSpc>
            </a:pPr>
            <a:r>
              <a:rPr lang="en-US" sz="4200">
                <a:solidFill>
                  <a:srgbClr val="000000"/>
                </a:solidFill>
                <a:latin typeface="Times New Roman MT"/>
                <a:ea typeface="Times New Roman MT"/>
                <a:cs typeface="Times New Roman MT"/>
                <a:sym typeface="Times New Roman MT"/>
              </a:rPr>
              <a:t>5. </a:t>
            </a:r>
            <a:r>
              <a:rPr lang="en-US" sz="4200" b="true">
                <a:solidFill>
                  <a:srgbClr val="000000"/>
                </a:solidFill>
                <a:latin typeface="Times New Roman MT Bold"/>
                <a:ea typeface="Times New Roman MT Bold"/>
                <a:cs typeface="Times New Roman MT Bold"/>
                <a:sym typeface="Times New Roman MT Bold"/>
              </a:rPr>
              <a:t>Project Group </a:t>
            </a:r>
            <a:r>
              <a:rPr lang="en-US" sz="4200">
                <a:solidFill>
                  <a:srgbClr val="000000"/>
                </a:solidFill>
                <a:latin typeface="Times New Roman MT"/>
                <a:ea typeface="Times New Roman MT"/>
                <a:cs typeface="Times New Roman MT"/>
                <a:sym typeface="Times New Roman MT"/>
              </a:rPr>
              <a:t>        : Batch 5</a:t>
            </a:r>
          </a:p>
        </p:txBody>
      </p:sp>
      <p:grpSp>
        <p:nvGrpSpPr>
          <p:cNvPr name="Group 17" id="17"/>
          <p:cNvGrpSpPr>
            <a:grpSpLocks noChangeAspect="true"/>
          </p:cNvGrpSpPr>
          <p:nvPr/>
        </p:nvGrpSpPr>
        <p:grpSpPr>
          <a:xfrm rot="0">
            <a:off x="14414500" y="9644064"/>
            <a:ext cx="1892299" cy="528638"/>
            <a:chOff x="0" y="0"/>
            <a:chExt cx="2523066" cy="704850"/>
          </a:xfrm>
        </p:grpSpPr>
        <p:sp>
          <p:nvSpPr>
            <p:cNvPr name="Freeform 18" id="18"/>
            <p:cNvSpPr/>
            <p:nvPr/>
          </p:nvSpPr>
          <p:spPr>
            <a:xfrm flipH="false" flipV="false" rot="0">
              <a:off x="0" y="0"/>
              <a:ext cx="2523109" cy="704850"/>
            </a:xfrm>
            <a:custGeom>
              <a:avLst/>
              <a:gdLst/>
              <a:ahLst/>
              <a:cxnLst/>
              <a:rect r="r" b="b" t="t" l="l"/>
              <a:pathLst>
                <a:path h="704850" w="2523109">
                  <a:moveTo>
                    <a:pt x="0" y="0"/>
                  </a:moveTo>
                  <a:lnTo>
                    <a:pt x="2523109" y="0"/>
                  </a:lnTo>
                  <a:lnTo>
                    <a:pt x="2523109" y="704850"/>
                  </a:lnTo>
                  <a:lnTo>
                    <a:pt x="0" y="704850"/>
                  </a:lnTo>
                  <a:lnTo>
                    <a:pt x="0" y="0"/>
                  </a:lnTo>
                  <a:close/>
                </a:path>
              </a:pathLst>
            </a:custGeom>
            <a:blipFill>
              <a:blip r:embed="rId2"/>
              <a:stretch>
                <a:fillRect l="0" t="-17417" r="0" b="-17966"/>
              </a:stretch>
            </a:blipFill>
          </p:spPr>
        </p:sp>
      </p:grpSp>
    </p:spTree>
  </p:cSld>
  <p:clrMapOvr>
    <a:masterClrMapping/>
  </p:clrMapOvr>
  <p:transition spd="slow">
    <p:push dir="l"/>
  </p:transition>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7068800" cy="1600200"/>
            <a:chOff x="0" y="0"/>
            <a:chExt cx="22758400" cy="2133600"/>
          </a:xfrm>
        </p:grpSpPr>
        <p:sp>
          <p:nvSpPr>
            <p:cNvPr name="Freeform 3" id="3"/>
            <p:cNvSpPr/>
            <p:nvPr/>
          </p:nvSpPr>
          <p:spPr>
            <a:xfrm flipH="false" flipV="false" rot="0">
              <a:off x="0" y="0"/>
              <a:ext cx="22757764" cy="2132838"/>
            </a:xfrm>
            <a:custGeom>
              <a:avLst/>
              <a:gdLst/>
              <a:ahLst/>
              <a:cxnLst/>
              <a:rect r="r" b="b" t="t" l="l"/>
              <a:pathLst>
                <a:path h="2132838" w="22757764">
                  <a:moveTo>
                    <a:pt x="0" y="2132838"/>
                  </a:moveTo>
                  <a:lnTo>
                    <a:pt x="22757764" y="2132838"/>
                  </a:lnTo>
                  <a:lnTo>
                    <a:pt x="22757764" y="0"/>
                  </a:lnTo>
                  <a:lnTo>
                    <a:pt x="0" y="0"/>
                  </a:lnTo>
                  <a:lnTo>
                    <a:pt x="0" y="2132838"/>
                  </a:lnTo>
                  <a:close/>
                </a:path>
              </a:pathLst>
            </a:custGeom>
            <a:solidFill>
              <a:srgbClr val="1D24AD"/>
            </a:solidFill>
          </p:spPr>
        </p:sp>
      </p:grpSp>
      <p:grpSp>
        <p:nvGrpSpPr>
          <p:cNvPr name="Group 4" id="4"/>
          <p:cNvGrpSpPr/>
          <p:nvPr/>
        </p:nvGrpSpPr>
        <p:grpSpPr>
          <a:xfrm rot="0">
            <a:off x="17068800" y="0"/>
            <a:ext cx="1219200" cy="1600200"/>
            <a:chOff x="0" y="0"/>
            <a:chExt cx="1625600" cy="2133600"/>
          </a:xfrm>
        </p:grpSpPr>
        <p:sp>
          <p:nvSpPr>
            <p:cNvPr name="Freeform 5" id="5"/>
            <p:cNvSpPr/>
            <p:nvPr/>
          </p:nvSpPr>
          <p:spPr>
            <a:xfrm flipH="false" flipV="false" rot="0">
              <a:off x="0" y="0"/>
              <a:ext cx="1624584" cy="2132838"/>
            </a:xfrm>
            <a:custGeom>
              <a:avLst/>
              <a:gdLst/>
              <a:ahLst/>
              <a:cxnLst/>
              <a:rect r="r" b="b" t="t" l="l"/>
              <a:pathLst>
                <a:path h="2132838" w="1624584">
                  <a:moveTo>
                    <a:pt x="1624584" y="0"/>
                  </a:moveTo>
                  <a:lnTo>
                    <a:pt x="0" y="0"/>
                  </a:lnTo>
                  <a:lnTo>
                    <a:pt x="0" y="2132838"/>
                  </a:lnTo>
                  <a:lnTo>
                    <a:pt x="1624584" y="2132838"/>
                  </a:lnTo>
                  <a:lnTo>
                    <a:pt x="1624584" y="0"/>
                  </a:lnTo>
                  <a:close/>
                </a:path>
              </a:pathLst>
            </a:custGeom>
            <a:solidFill>
              <a:srgbClr val="E99213"/>
            </a:solidFill>
          </p:spPr>
        </p:sp>
      </p:grpSp>
      <p:grpSp>
        <p:nvGrpSpPr>
          <p:cNvPr name="Group 6" id="6"/>
          <p:cNvGrpSpPr/>
          <p:nvPr/>
        </p:nvGrpSpPr>
        <p:grpSpPr>
          <a:xfrm rot="0">
            <a:off x="17049631" y="-19169"/>
            <a:ext cx="1257538" cy="1638538"/>
            <a:chOff x="0" y="0"/>
            <a:chExt cx="1676718" cy="2184718"/>
          </a:xfrm>
        </p:grpSpPr>
        <p:sp>
          <p:nvSpPr>
            <p:cNvPr name="Freeform 7" id="7"/>
            <p:cNvSpPr/>
            <p:nvPr/>
          </p:nvSpPr>
          <p:spPr>
            <a:xfrm flipH="false" flipV="false" rot="0">
              <a:off x="0" y="0"/>
              <a:ext cx="1675638" cy="2183892"/>
            </a:xfrm>
            <a:custGeom>
              <a:avLst/>
              <a:gdLst/>
              <a:ahLst/>
              <a:cxnLst/>
              <a:rect r="r" b="b" t="t" l="l"/>
              <a:pathLst>
                <a:path h="2183892" w="1675638">
                  <a:moveTo>
                    <a:pt x="25527" y="0"/>
                  </a:moveTo>
                  <a:lnTo>
                    <a:pt x="1650111" y="0"/>
                  </a:lnTo>
                  <a:cubicBezTo>
                    <a:pt x="1664208" y="0"/>
                    <a:pt x="1675638" y="11430"/>
                    <a:pt x="1675638" y="25527"/>
                  </a:cubicBezTo>
                  <a:lnTo>
                    <a:pt x="1675638" y="2158365"/>
                  </a:lnTo>
                  <a:cubicBezTo>
                    <a:pt x="1675638" y="2172462"/>
                    <a:pt x="1664208" y="2183892"/>
                    <a:pt x="1650111" y="2183892"/>
                  </a:cubicBezTo>
                  <a:lnTo>
                    <a:pt x="25527" y="2183892"/>
                  </a:lnTo>
                  <a:cubicBezTo>
                    <a:pt x="11430" y="2183892"/>
                    <a:pt x="0" y="2172462"/>
                    <a:pt x="0" y="2158365"/>
                  </a:cubicBezTo>
                  <a:lnTo>
                    <a:pt x="0" y="25527"/>
                  </a:lnTo>
                  <a:cubicBezTo>
                    <a:pt x="0" y="11430"/>
                    <a:pt x="11430" y="0"/>
                    <a:pt x="25527" y="0"/>
                  </a:cubicBezTo>
                  <a:moveTo>
                    <a:pt x="25527" y="51181"/>
                  </a:moveTo>
                  <a:lnTo>
                    <a:pt x="25527" y="25527"/>
                  </a:lnTo>
                  <a:lnTo>
                    <a:pt x="51181" y="25527"/>
                  </a:lnTo>
                  <a:lnTo>
                    <a:pt x="51181" y="2158365"/>
                  </a:lnTo>
                  <a:lnTo>
                    <a:pt x="25527" y="2158365"/>
                  </a:lnTo>
                  <a:lnTo>
                    <a:pt x="25527" y="2132838"/>
                  </a:lnTo>
                  <a:lnTo>
                    <a:pt x="1650111" y="2132838"/>
                  </a:lnTo>
                  <a:lnTo>
                    <a:pt x="1650111" y="2158365"/>
                  </a:lnTo>
                  <a:lnTo>
                    <a:pt x="1624584" y="2158365"/>
                  </a:lnTo>
                  <a:lnTo>
                    <a:pt x="1624584" y="25527"/>
                  </a:lnTo>
                  <a:lnTo>
                    <a:pt x="1650111" y="25527"/>
                  </a:lnTo>
                  <a:lnTo>
                    <a:pt x="1650111" y="51181"/>
                  </a:lnTo>
                  <a:lnTo>
                    <a:pt x="25527" y="51181"/>
                  </a:lnTo>
                  <a:close/>
                </a:path>
              </a:pathLst>
            </a:custGeom>
            <a:solidFill>
              <a:srgbClr val="E99213"/>
            </a:solidFill>
          </p:spPr>
        </p:sp>
      </p:grpSp>
      <p:grpSp>
        <p:nvGrpSpPr>
          <p:cNvPr name="Group 8" id="8"/>
          <p:cNvGrpSpPr/>
          <p:nvPr/>
        </p:nvGrpSpPr>
        <p:grpSpPr>
          <a:xfrm rot="0">
            <a:off x="0" y="9944100"/>
            <a:ext cx="14325600" cy="142875"/>
            <a:chOff x="0" y="0"/>
            <a:chExt cx="19100800" cy="190500"/>
          </a:xfrm>
        </p:grpSpPr>
        <p:sp>
          <p:nvSpPr>
            <p:cNvPr name="Freeform 9" id="9"/>
            <p:cNvSpPr/>
            <p:nvPr/>
          </p:nvSpPr>
          <p:spPr>
            <a:xfrm flipH="false" flipV="false" rot="0">
              <a:off x="0" y="0"/>
              <a:ext cx="19100419" cy="189484"/>
            </a:xfrm>
            <a:custGeom>
              <a:avLst/>
              <a:gdLst/>
              <a:ahLst/>
              <a:cxnLst/>
              <a:rect r="r" b="b" t="t" l="l"/>
              <a:pathLst>
                <a:path h="189484" w="19100419">
                  <a:moveTo>
                    <a:pt x="19100419" y="0"/>
                  </a:moveTo>
                  <a:lnTo>
                    <a:pt x="0" y="0"/>
                  </a:lnTo>
                  <a:lnTo>
                    <a:pt x="0" y="189484"/>
                  </a:lnTo>
                  <a:lnTo>
                    <a:pt x="19100419" y="189484"/>
                  </a:lnTo>
                  <a:lnTo>
                    <a:pt x="19100419" y="0"/>
                  </a:lnTo>
                  <a:close/>
                </a:path>
              </a:pathLst>
            </a:custGeom>
            <a:solidFill>
              <a:srgbClr val="E99213"/>
            </a:solidFill>
          </p:spPr>
        </p:sp>
      </p:grpSp>
      <p:grpSp>
        <p:nvGrpSpPr>
          <p:cNvPr name="Group 10" id="10"/>
          <p:cNvGrpSpPr/>
          <p:nvPr/>
        </p:nvGrpSpPr>
        <p:grpSpPr>
          <a:xfrm rot="0">
            <a:off x="0" y="9715500"/>
            <a:ext cx="14325600" cy="142875"/>
            <a:chOff x="0" y="0"/>
            <a:chExt cx="19100800" cy="190500"/>
          </a:xfrm>
        </p:grpSpPr>
        <p:sp>
          <p:nvSpPr>
            <p:cNvPr name="Freeform 11" id="11"/>
            <p:cNvSpPr/>
            <p:nvPr/>
          </p:nvSpPr>
          <p:spPr>
            <a:xfrm flipH="false" flipV="false" rot="0">
              <a:off x="0" y="0"/>
              <a:ext cx="19100419" cy="189484"/>
            </a:xfrm>
            <a:custGeom>
              <a:avLst/>
              <a:gdLst/>
              <a:ahLst/>
              <a:cxnLst/>
              <a:rect r="r" b="b" t="t" l="l"/>
              <a:pathLst>
                <a:path h="189484" w="19100419">
                  <a:moveTo>
                    <a:pt x="19100419" y="0"/>
                  </a:moveTo>
                  <a:lnTo>
                    <a:pt x="0" y="0"/>
                  </a:lnTo>
                  <a:lnTo>
                    <a:pt x="0" y="189484"/>
                  </a:lnTo>
                  <a:lnTo>
                    <a:pt x="19100419" y="189484"/>
                  </a:lnTo>
                  <a:lnTo>
                    <a:pt x="19100419" y="0"/>
                  </a:lnTo>
                  <a:close/>
                </a:path>
              </a:pathLst>
            </a:custGeom>
            <a:solidFill>
              <a:srgbClr val="1D24AD"/>
            </a:solidFill>
          </p:spPr>
        </p:sp>
      </p:grpSp>
      <p:grpSp>
        <p:nvGrpSpPr>
          <p:cNvPr name="Group 12" id="12"/>
          <p:cNvGrpSpPr>
            <a:grpSpLocks noChangeAspect="true"/>
          </p:cNvGrpSpPr>
          <p:nvPr/>
        </p:nvGrpSpPr>
        <p:grpSpPr>
          <a:xfrm rot="0">
            <a:off x="14414501" y="9644064"/>
            <a:ext cx="1892299" cy="528638"/>
            <a:chOff x="0" y="0"/>
            <a:chExt cx="2523066" cy="704850"/>
          </a:xfrm>
        </p:grpSpPr>
        <p:sp>
          <p:nvSpPr>
            <p:cNvPr name="Freeform 13" id="13"/>
            <p:cNvSpPr/>
            <p:nvPr/>
          </p:nvSpPr>
          <p:spPr>
            <a:xfrm flipH="false" flipV="false" rot="0">
              <a:off x="0" y="0"/>
              <a:ext cx="2523109" cy="704850"/>
            </a:xfrm>
            <a:custGeom>
              <a:avLst/>
              <a:gdLst/>
              <a:ahLst/>
              <a:cxnLst/>
              <a:rect r="r" b="b" t="t" l="l"/>
              <a:pathLst>
                <a:path h="704850" w="2523109">
                  <a:moveTo>
                    <a:pt x="0" y="0"/>
                  </a:moveTo>
                  <a:lnTo>
                    <a:pt x="2523109" y="0"/>
                  </a:lnTo>
                  <a:lnTo>
                    <a:pt x="2523109" y="704850"/>
                  </a:lnTo>
                  <a:lnTo>
                    <a:pt x="0" y="704850"/>
                  </a:lnTo>
                  <a:lnTo>
                    <a:pt x="0" y="0"/>
                  </a:lnTo>
                  <a:close/>
                </a:path>
              </a:pathLst>
            </a:custGeom>
            <a:blipFill>
              <a:blip r:embed="rId2"/>
              <a:stretch>
                <a:fillRect l="0" t="-17417" r="0" b="-17966"/>
              </a:stretch>
            </a:blipFill>
          </p:spPr>
        </p:sp>
      </p:grpSp>
      <p:grpSp>
        <p:nvGrpSpPr>
          <p:cNvPr name="Group 14" id="14"/>
          <p:cNvGrpSpPr/>
          <p:nvPr/>
        </p:nvGrpSpPr>
        <p:grpSpPr>
          <a:xfrm rot="0">
            <a:off x="16459200" y="9944100"/>
            <a:ext cx="1828800" cy="114300"/>
            <a:chOff x="0" y="0"/>
            <a:chExt cx="2438400" cy="152400"/>
          </a:xfrm>
        </p:grpSpPr>
        <p:sp>
          <p:nvSpPr>
            <p:cNvPr name="Freeform 15" id="15"/>
            <p:cNvSpPr/>
            <p:nvPr/>
          </p:nvSpPr>
          <p:spPr>
            <a:xfrm flipH="false" flipV="false" rot="0">
              <a:off x="0" y="0"/>
              <a:ext cx="2437638" cy="151384"/>
            </a:xfrm>
            <a:custGeom>
              <a:avLst/>
              <a:gdLst/>
              <a:ahLst/>
              <a:cxnLst/>
              <a:rect r="r" b="b" t="t" l="l"/>
              <a:pathLst>
                <a:path h="151384" w="2437638">
                  <a:moveTo>
                    <a:pt x="2437638" y="0"/>
                  </a:moveTo>
                  <a:lnTo>
                    <a:pt x="0" y="0"/>
                  </a:lnTo>
                  <a:lnTo>
                    <a:pt x="0" y="151384"/>
                  </a:lnTo>
                  <a:lnTo>
                    <a:pt x="2437638" y="151384"/>
                  </a:lnTo>
                  <a:lnTo>
                    <a:pt x="2437638" y="0"/>
                  </a:lnTo>
                  <a:close/>
                </a:path>
              </a:pathLst>
            </a:custGeom>
            <a:solidFill>
              <a:srgbClr val="E99213"/>
            </a:solidFill>
          </p:spPr>
        </p:sp>
      </p:grpSp>
      <p:grpSp>
        <p:nvGrpSpPr>
          <p:cNvPr name="Group 16" id="16"/>
          <p:cNvGrpSpPr/>
          <p:nvPr/>
        </p:nvGrpSpPr>
        <p:grpSpPr>
          <a:xfrm rot="0">
            <a:off x="16459200" y="9715500"/>
            <a:ext cx="1828800" cy="114300"/>
            <a:chOff x="0" y="0"/>
            <a:chExt cx="2438400" cy="152400"/>
          </a:xfrm>
        </p:grpSpPr>
        <p:sp>
          <p:nvSpPr>
            <p:cNvPr name="Freeform 17" id="17"/>
            <p:cNvSpPr/>
            <p:nvPr/>
          </p:nvSpPr>
          <p:spPr>
            <a:xfrm flipH="false" flipV="false" rot="0">
              <a:off x="0" y="0"/>
              <a:ext cx="2437638" cy="151384"/>
            </a:xfrm>
            <a:custGeom>
              <a:avLst/>
              <a:gdLst/>
              <a:ahLst/>
              <a:cxnLst/>
              <a:rect r="r" b="b" t="t" l="l"/>
              <a:pathLst>
                <a:path h="151384" w="2437638">
                  <a:moveTo>
                    <a:pt x="2437638" y="0"/>
                  </a:moveTo>
                  <a:lnTo>
                    <a:pt x="0" y="0"/>
                  </a:lnTo>
                  <a:lnTo>
                    <a:pt x="0" y="151384"/>
                  </a:lnTo>
                  <a:lnTo>
                    <a:pt x="2437638" y="151384"/>
                  </a:lnTo>
                  <a:lnTo>
                    <a:pt x="2437638" y="0"/>
                  </a:lnTo>
                  <a:close/>
                </a:path>
              </a:pathLst>
            </a:custGeom>
            <a:solidFill>
              <a:srgbClr val="1D24AD"/>
            </a:solidFill>
          </p:spPr>
        </p:sp>
      </p:grpSp>
      <p:sp>
        <p:nvSpPr>
          <p:cNvPr name="TextBox 18" id="18"/>
          <p:cNvSpPr txBox="true"/>
          <p:nvPr/>
        </p:nvSpPr>
        <p:spPr>
          <a:xfrm rot="0">
            <a:off x="7427121" y="334171"/>
            <a:ext cx="3774281" cy="954087"/>
          </a:xfrm>
          <a:prstGeom prst="rect">
            <a:avLst/>
          </a:prstGeom>
        </p:spPr>
        <p:txBody>
          <a:bodyPr anchor="t" rtlCol="false" tIns="0" lIns="0" bIns="0" rIns="0">
            <a:spAutoFit/>
          </a:bodyPr>
          <a:lstStyle/>
          <a:p>
            <a:pPr algn="ctr">
              <a:lnSpc>
                <a:spcPts val="6480"/>
              </a:lnSpc>
            </a:pPr>
            <a:r>
              <a:rPr lang="en-US" b="true" sz="5400" spc="-30">
                <a:solidFill>
                  <a:srgbClr val="FFFFFF"/>
                </a:solidFill>
                <a:latin typeface="Times New Roman MT Bold"/>
                <a:ea typeface="Times New Roman MT Bold"/>
                <a:cs typeface="Times New Roman MT Bold"/>
                <a:sym typeface="Times New Roman MT Bold"/>
              </a:rPr>
              <a:t>Motivation</a:t>
            </a:r>
          </a:p>
        </p:txBody>
      </p:sp>
      <p:grpSp>
        <p:nvGrpSpPr>
          <p:cNvPr name="Group 19" id="19"/>
          <p:cNvGrpSpPr/>
          <p:nvPr/>
        </p:nvGrpSpPr>
        <p:grpSpPr>
          <a:xfrm rot="0">
            <a:off x="3091595" y="2143856"/>
            <a:ext cx="12445333" cy="5999287"/>
            <a:chOff x="0" y="0"/>
            <a:chExt cx="16459200" cy="7934176"/>
          </a:xfrm>
        </p:grpSpPr>
        <p:sp>
          <p:nvSpPr>
            <p:cNvPr name="Freeform 20" id="20"/>
            <p:cNvSpPr/>
            <p:nvPr/>
          </p:nvSpPr>
          <p:spPr>
            <a:xfrm flipH="false" flipV="false" rot="0">
              <a:off x="0" y="0"/>
              <a:ext cx="16459200" cy="7934175"/>
            </a:xfrm>
            <a:custGeom>
              <a:avLst/>
              <a:gdLst/>
              <a:ahLst/>
              <a:cxnLst/>
              <a:rect r="r" b="b" t="t" l="l"/>
              <a:pathLst>
                <a:path h="7934175" w="16459200">
                  <a:moveTo>
                    <a:pt x="0" y="0"/>
                  </a:moveTo>
                  <a:lnTo>
                    <a:pt x="16459200" y="0"/>
                  </a:lnTo>
                  <a:lnTo>
                    <a:pt x="16459200" y="7934175"/>
                  </a:lnTo>
                  <a:lnTo>
                    <a:pt x="0" y="7934175"/>
                  </a:lnTo>
                  <a:close/>
                </a:path>
              </a:pathLst>
            </a:custGeom>
            <a:solidFill>
              <a:srgbClr val="000000">
                <a:alpha val="0"/>
              </a:srgbClr>
            </a:solidFill>
          </p:spPr>
        </p:sp>
        <p:sp>
          <p:nvSpPr>
            <p:cNvPr name="TextBox 21" id="21"/>
            <p:cNvSpPr txBox="true"/>
            <p:nvPr/>
          </p:nvSpPr>
          <p:spPr>
            <a:xfrm>
              <a:off x="0" y="-85725"/>
              <a:ext cx="16459200" cy="8019901"/>
            </a:xfrm>
            <a:prstGeom prst="rect">
              <a:avLst/>
            </a:prstGeom>
          </p:spPr>
          <p:txBody>
            <a:bodyPr anchor="ctr" rtlCol="false" tIns="0" lIns="0" bIns="0" rIns="0"/>
            <a:lstStyle/>
            <a:p>
              <a:pPr algn="l">
                <a:lnSpc>
                  <a:spcPts val="5040"/>
                </a:lnSpc>
              </a:pPr>
            </a:p>
            <a:p>
              <a:pPr algn="just" marL="760095" indent="-380048" lvl="1">
                <a:lnSpc>
                  <a:spcPts val="5040"/>
                </a:lnSpc>
                <a:buFont typeface="Arial"/>
                <a:buChar char="•"/>
              </a:pPr>
              <a:r>
                <a:rPr lang="en-US" sz="4200">
                  <a:solidFill>
                    <a:srgbClr val="000000"/>
                  </a:solidFill>
                  <a:latin typeface="Calibri (MS)"/>
                  <a:ea typeface="Calibri (MS)"/>
                  <a:cs typeface="Calibri (MS)"/>
                  <a:sym typeface="Calibri (MS)"/>
                </a:rPr>
                <a:t>Increased Convenience and Enhanced Efficiency</a:t>
              </a:r>
            </a:p>
            <a:p>
              <a:pPr algn="just" marL="760095" indent="-380048" lvl="1">
                <a:lnSpc>
                  <a:spcPts val="5040"/>
                </a:lnSpc>
              </a:pPr>
            </a:p>
            <a:p>
              <a:pPr algn="just" marL="760095" indent="-380048" lvl="1">
                <a:lnSpc>
                  <a:spcPts val="5040"/>
                </a:lnSpc>
                <a:buFont typeface="Arial"/>
                <a:buChar char="•"/>
              </a:pPr>
              <a:r>
                <a:rPr lang="en-US" sz="4200">
                  <a:solidFill>
                    <a:srgbClr val="000000"/>
                  </a:solidFill>
                  <a:latin typeface="Calibri (MS)"/>
                  <a:ea typeface="Calibri (MS)"/>
                  <a:cs typeface="Calibri (MS)"/>
                  <a:sym typeface="Calibri (MS)"/>
                </a:rPr>
                <a:t>Efficient use of battery</a:t>
              </a:r>
            </a:p>
            <a:p>
              <a:pPr algn="just" marL="760095" indent="-380048" lvl="1">
                <a:lnSpc>
                  <a:spcPts val="5040"/>
                </a:lnSpc>
              </a:pPr>
            </a:p>
            <a:p>
              <a:pPr algn="just" marL="760095" indent="-380048" lvl="1">
                <a:lnSpc>
                  <a:spcPts val="5040"/>
                </a:lnSpc>
                <a:buFont typeface="Arial"/>
                <a:buChar char="•"/>
              </a:pPr>
              <a:r>
                <a:rPr lang="en-US" sz="4200">
                  <a:solidFill>
                    <a:srgbClr val="000000"/>
                  </a:solidFill>
                  <a:latin typeface="Calibri (MS)"/>
                  <a:ea typeface="Calibri (MS)"/>
                  <a:cs typeface="Calibri (MS)"/>
                  <a:sym typeface="Calibri (MS)"/>
                </a:rPr>
                <a:t>Sustainability</a:t>
              </a:r>
            </a:p>
            <a:p>
              <a:pPr algn="just" marL="760095" indent="-380048" lvl="1">
                <a:lnSpc>
                  <a:spcPts val="5040"/>
                </a:lnSpc>
              </a:pPr>
            </a:p>
            <a:p>
              <a:pPr algn="just" marL="760095" indent="-380048" lvl="1">
                <a:lnSpc>
                  <a:spcPts val="5040"/>
                </a:lnSpc>
                <a:buFont typeface="Arial"/>
                <a:buChar char="•"/>
              </a:pPr>
              <a:r>
                <a:rPr lang="en-US" sz="4200">
                  <a:solidFill>
                    <a:srgbClr val="000000"/>
                  </a:solidFill>
                  <a:latin typeface="Calibri (MS)"/>
                  <a:ea typeface="Calibri (MS)"/>
                  <a:cs typeface="Calibri (MS)"/>
                  <a:sym typeface="Calibri (MS)"/>
                </a:rPr>
                <a:t>Energy Management</a:t>
              </a:r>
            </a:p>
            <a:p>
              <a:pPr algn="just" marL="760095" indent="-380048" lvl="1">
                <a:lnSpc>
                  <a:spcPts val="5040"/>
                </a:lnSpc>
              </a:pPr>
            </a:p>
          </p:txBody>
        </p:sp>
      </p:grpSp>
    </p:spTree>
  </p:cSld>
  <p:clrMapOvr>
    <a:masterClrMapping/>
  </p:clrMapOvr>
  <p:transition spd="slow">
    <p:push dir="l"/>
  </p:transition>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7068800" cy="1600200"/>
            <a:chOff x="0" y="0"/>
            <a:chExt cx="22758400" cy="2133600"/>
          </a:xfrm>
        </p:grpSpPr>
        <p:sp>
          <p:nvSpPr>
            <p:cNvPr name="Freeform 3" id="3"/>
            <p:cNvSpPr/>
            <p:nvPr/>
          </p:nvSpPr>
          <p:spPr>
            <a:xfrm flipH="false" flipV="false" rot="0">
              <a:off x="0" y="0"/>
              <a:ext cx="22757764" cy="2132838"/>
            </a:xfrm>
            <a:custGeom>
              <a:avLst/>
              <a:gdLst/>
              <a:ahLst/>
              <a:cxnLst/>
              <a:rect r="r" b="b" t="t" l="l"/>
              <a:pathLst>
                <a:path h="2132838" w="22757764">
                  <a:moveTo>
                    <a:pt x="0" y="2132838"/>
                  </a:moveTo>
                  <a:lnTo>
                    <a:pt x="22757764" y="2132838"/>
                  </a:lnTo>
                  <a:lnTo>
                    <a:pt x="22757764" y="0"/>
                  </a:lnTo>
                  <a:lnTo>
                    <a:pt x="0" y="0"/>
                  </a:lnTo>
                  <a:lnTo>
                    <a:pt x="0" y="2132838"/>
                  </a:lnTo>
                  <a:close/>
                </a:path>
              </a:pathLst>
            </a:custGeom>
            <a:solidFill>
              <a:srgbClr val="1D24AD"/>
            </a:solidFill>
          </p:spPr>
        </p:sp>
      </p:grpSp>
      <p:grpSp>
        <p:nvGrpSpPr>
          <p:cNvPr name="Group 4" id="4"/>
          <p:cNvGrpSpPr/>
          <p:nvPr/>
        </p:nvGrpSpPr>
        <p:grpSpPr>
          <a:xfrm rot="0">
            <a:off x="17068800" y="0"/>
            <a:ext cx="1219200" cy="1600200"/>
            <a:chOff x="0" y="0"/>
            <a:chExt cx="1625600" cy="2133600"/>
          </a:xfrm>
        </p:grpSpPr>
        <p:sp>
          <p:nvSpPr>
            <p:cNvPr name="Freeform 5" id="5"/>
            <p:cNvSpPr/>
            <p:nvPr/>
          </p:nvSpPr>
          <p:spPr>
            <a:xfrm flipH="false" flipV="false" rot="0">
              <a:off x="0" y="0"/>
              <a:ext cx="1624584" cy="2132838"/>
            </a:xfrm>
            <a:custGeom>
              <a:avLst/>
              <a:gdLst/>
              <a:ahLst/>
              <a:cxnLst/>
              <a:rect r="r" b="b" t="t" l="l"/>
              <a:pathLst>
                <a:path h="2132838" w="1624584">
                  <a:moveTo>
                    <a:pt x="1624584" y="0"/>
                  </a:moveTo>
                  <a:lnTo>
                    <a:pt x="0" y="0"/>
                  </a:lnTo>
                  <a:lnTo>
                    <a:pt x="0" y="2132838"/>
                  </a:lnTo>
                  <a:lnTo>
                    <a:pt x="1624584" y="2132838"/>
                  </a:lnTo>
                  <a:lnTo>
                    <a:pt x="1624584" y="0"/>
                  </a:lnTo>
                  <a:close/>
                </a:path>
              </a:pathLst>
            </a:custGeom>
            <a:solidFill>
              <a:srgbClr val="E99213"/>
            </a:solidFill>
          </p:spPr>
        </p:sp>
      </p:grpSp>
      <p:grpSp>
        <p:nvGrpSpPr>
          <p:cNvPr name="Group 6" id="6"/>
          <p:cNvGrpSpPr/>
          <p:nvPr/>
        </p:nvGrpSpPr>
        <p:grpSpPr>
          <a:xfrm rot="0">
            <a:off x="17049631" y="-19169"/>
            <a:ext cx="1257538" cy="1638538"/>
            <a:chOff x="0" y="0"/>
            <a:chExt cx="1676718" cy="2184718"/>
          </a:xfrm>
        </p:grpSpPr>
        <p:sp>
          <p:nvSpPr>
            <p:cNvPr name="Freeform 7" id="7"/>
            <p:cNvSpPr/>
            <p:nvPr/>
          </p:nvSpPr>
          <p:spPr>
            <a:xfrm flipH="false" flipV="false" rot="0">
              <a:off x="0" y="0"/>
              <a:ext cx="1675638" cy="2183892"/>
            </a:xfrm>
            <a:custGeom>
              <a:avLst/>
              <a:gdLst/>
              <a:ahLst/>
              <a:cxnLst/>
              <a:rect r="r" b="b" t="t" l="l"/>
              <a:pathLst>
                <a:path h="2183892" w="1675638">
                  <a:moveTo>
                    <a:pt x="25527" y="0"/>
                  </a:moveTo>
                  <a:lnTo>
                    <a:pt x="1650111" y="0"/>
                  </a:lnTo>
                  <a:cubicBezTo>
                    <a:pt x="1664208" y="0"/>
                    <a:pt x="1675638" y="11430"/>
                    <a:pt x="1675638" y="25527"/>
                  </a:cubicBezTo>
                  <a:lnTo>
                    <a:pt x="1675638" y="2158365"/>
                  </a:lnTo>
                  <a:cubicBezTo>
                    <a:pt x="1675638" y="2172462"/>
                    <a:pt x="1664208" y="2183892"/>
                    <a:pt x="1650111" y="2183892"/>
                  </a:cubicBezTo>
                  <a:lnTo>
                    <a:pt x="25527" y="2183892"/>
                  </a:lnTo>
                  <a:cubicBezTo>
                    <a:pt x="11430" y="2183892"/>
                    <a:pt x="0" y="2172462"/>
                    <a:pt x="0" y="2158365"/>
                  </a:cubicBezTo>
                  <a:lnTo>
                    <a:pt x="0" y="25527"/>
                  </a:lnTo>
                  <a:cubicBezTo>
                    <a:pt x="0" y="11430"/>
                    <a:pt x="11430" y="0"/>
                    <a:pt x="25527" y="0"/>
                  </a:cubicBezTo>
                  <a:moveTo>
                    <a:pt x="25527" y="51181"/>
                  </a:moveTo>
                  <a:lnTo>
                    <a:pt x="25527" y="25527"/>
                  </a:lnTo>
                  <a:lnTo>
                    <a:pt x="51181" y="25527"/>
                  </a:lnTo>
                  <a:lnTo>
                    <a:pt x="51181" y="2158365"/>
                  </a:lnTo>
                  <a:lnTo>
                    <a:pt x="25527" y="2158365"/>
                  </a:lnTo>
                  <a:lnTo>
                    <a:pt x="25527" y="2132838"/>
                  </a:lnTo>
                  <a:lnTo>
                    <a:pt x="1650111" y="2132838"/>
                  </a:lnTo>
                  <a:lnTo>
                    <a:pt x="1650111" y="2158365"/>
                  </a:lnTo>
                  <a:lnTo>
                    <a:pt x="1624584" y="2158365"/>
                  </a:lnTo>
                  <a:lnTo>
                    <a:pt x="1624584" y="25527"/>
                  </a:lnTo>
                  <a:lnTo>
                    <a:pt x="1650111" y="25527"/>
                  </a:lnTo>
                  <a:lnTo>
                    <a:pt x="1650111" y="51181"/>
                  </a:lnTo>
                  <a:lnTo>
                    <a:pt x="25527" y="51181"/>
                  </a:lnTo>
                  <a:close/>
                </a:path>
              </a:pathLst>
            </a:custGeom>
            <a:solidFill>
              <a:srgbClr val="E99213"/>
            </a:solidFill>
          </p:spPr>
        </p:sp>
      </p:grpSp>
      <p:grpSp>
        <p:nvGrpSpPr>
          <p:cNvPr name="Group 8" id="8"/>
          <p:cNvGrpSpPr/>
          <p:nvPr/>
        </p:nvGrpSpPr>
        <p:grpSpPr>
          <a:xfrm rot="0">
            <a:off x="0" y="9944100"/>
            <a:ext cx="14325600" cy="142875"/>
            <a:chOff x="0" y="0"/>
            <a:chExt cx="19100800" cy="190500"/>
          </a:xfrm>
        </p:grpSpPr>
        <p:sp>
          <p:nvSpPr>
            <p:cNvPr name="Freeform 9" id="9"/>
            <p:cNvSpPr/>
            <p:nvPr/>
          </p:nvSpPr>
          <p:spPr>
            <a:xfrm flipH="false" flipV="false" rot="0">
              <a:off x="0" y="0"/>
              <a:ext cx="19100419" cy="189484"/>
            </a:xfrm>
            <a:custGeom>
              <a:avLst/>
              <a:gdLst/>
              <a:ahLst/>
              <a:cxnLst/>
              <a:rect r="r" b="b" t="t" l="l"/>
              <a:pathLst>
                <a:path h="189484" w="19100419">
                  <a:moveTo>
                    <a:pt x="19100419" y="0"/>
                  </a:moveTo>
                  <a:lnTo>
                    <a:pt x="0" y="0"/>
                  </a:lnTo>
                  <a:lnTo>
                    <a:pt x="0" y="189484"/>
                  </a:lnTo>
                  <a:lnTo>
                    <a:pt x="19100419" y="189484"/>
                  </a:lnTo>
                  <a:lnTo>
                    <a:pt x="19100419" y="0"/>
                  </a:lnTo>
                  <a:close/>
                </a:path>
              </a:pathLst>
            </a:custGeom>
            <a:solidFill>
              <a:srgbClr val="E99213"/>
            </a:solidFill>
          </p:spPr>
        </p:sp>
      </p:grpSp>
      <p:grpSp>
        <p:nvGrpSpPr>
          <p:cNvPr name="Group 10" id="10"/>
          <p:cNvGrpSpPr/>
          <p:nvPr/>
        </p:nvGrpSpPr>
        <p:grpSpPr>
          <a:xfrm rot="0">
            <a:off x="0" y="9715500"/>
            <a:ext cx="14325600" cy="142875"/>
            <a:chOff x="0" y="0"/>
            <a:chExt cx="19100800" cy="190500"/>
          </a:xfrm>
        </p:grpSpPr>
        <p:sp>
          <p:nvSpPr>
            <p:cNvPr name="Freeform 11" id="11"/>
            <p:cNvSpPr/>
            <p:nvPr/>
          </p:nvSpPr>
          <p:spPr>
            <a:xfrm flipH="false" flipV="false" rot="0">
              <a:off x="0" y="0"/>
              <a:ext cx="19100419" cy="189484"/>
            </a:xfrm>
            <a:custGeom>
              <a:avLst/>
              <a:gdLst/>
              <a:ahLst/>
              <a:cxnLst/>
              <a:rect r="r" b="b" t="t" l="l"/>
              <a:pathLst>
                <a:path h="189484" w="19100419">
                  <a:moveTo>
                    <a:pt x="19100419" y="0"/>
                  </a:moveTo>
                  <a:lnTo>
                    <a:pt x="0" y="0"/>
                  </a:lnTo>
                  <a:lnTo>
                    <a:pt x="0" y="189484"/>
                  </a:lnTo>
                  <a:lnTo>
                    <a:pt x="19100419" y="189484"/>
                  </a:lnTo>
                  <a:lnTo>
                    <a:pt x="19100419" y="0"/>
                  </a:lnTo>
                  <a:close/>
                </a:path>
              </a:pathLst>
            </a:custGeom>
            <a:solidFill>
              <a:srgbClr val="1D24AD"/>
            </a:solidFill>
          </p:spPr>
        </p:sp>
      </p:grpSp>
      <p:grpSp>
        <p:nvGrpSpPr>
          <p:cNvPr name="Group 12" id="12"/>
          <p:cNvGrpSpPr/>
          <p:nvPr/>
        </p:nvGrpSpPr>
        <p:grpSpPr>
          <a:xfrm rot="0">
            <a:off x="16459200" y="9944100"/>
            <a:ext cx="1828800" cy="114300"/>
            <a:chOff x="0" y="0"/>
            <a:chExt cx="2438400" cy="152400"/>
          </a:xfrm>
        </p:grpSpPr>
        <p:sp>
          <p:nvSpPr>
            <p:cNvPr name="Freeform 13" id="13"/>
            <p:cNvSpPr/>
            <p:nvPr/>
          </p:nvSpPr>
          <p:spPr>
            <a:xfrm flipH="false" flipV="false" rot="0">
              <a:off x="0" y="0"/>
              <a:ext cx="2437638" cy="151384"/>
            </a:xfrm>
            <a:custGeom>
              <a:avLst/>
              <a:gdLst/>
              <a:ahLst/>
              <a:cxnLst/>
              <a:rect r="r" b="b" t="t" l="l"/>
              <a:pathLst>
                <a:path h="151384" w="2437638">
                  <a:moveTo>
                    <a:pt x="2437638" y="0"/>
                  </a:moveTo>
                  <a:lnTo>
                    <a:pt x="0" y="0"/>
                  </a:lnTo>
                  <a:lnTo>
                    <a:pt x="0" y="151384"/>
                  </a:lnTo>
                  <a:lnTo>
                    <a:pt x="2437638" y="151384"/>
                  </a:lnTo>
                  <a:lnTo>
                    <a:pt x="2437638" y="0"/>
                  </a:lnTo>
                  <a:close/>
                </a:path>
              </a:pathLst>
            </a:custGeom>
            <a:solidFill>
              <a:srgbClr val="E99213"/>
            </a:solidFill>
          </p:spPr>
        </p:sp>
      </p:grpSp>
      <p:grpSp>
        <p:nvGrpSpPr>
          <p:cNvPr name="Group 14" id="14"/>
          <p:cNvGrpSpPr/>
          <p:nvPr/>
        </p:nvGrpSpPr>
        <p:grpSpPr>
          <a:xfrm rot="0">
            <a:off x="16459200" y="9715500"/>
            <a:ext cx="1828800" cy="114300"/>
            <a:chOff x="0" y="0"/>
            <a:chExt cx="2438400" cy="152400"/>
          </a:xfrm>
        </p:grpSpPr>
        <p:sp>
          <p:nvSpPr>
            <p:cNvPr name="Freeform 15" id="15"/>
            <p:cNvSpPr/>
            <p:nvPr/>
          </p:nvSpPr>
          <p:spPr>
            <a:xfrm flipH="false" flipV="false" rot="0">
              <a:off x="0" y="0"/>
              <a:ext cx="2437638" cy="151384"/>
            </a:xfrm>
            <a:custGeom>
              <a:avLst/>
              <a:gdLst/>
              <a:ahLst/>
              <a:cxnLst/>
              <a:rect r="r" b="b" t="t" l="l"/>
              <a:pathLst>
                <a:path h="151384" w="2437638">
                  <a:moveTo>
                    <a:pt x="2437638" y="0"/>
                  </a:moveTo>
                  <a:lnTo>
                    <a:pt x="0" y="0"/>
                  </a:lnTo>
                  <a:lnTo>
                    <a:pt x="0" y="151384"/>
                  </a:lnTo>
                  <a:lnTo>
                    <a:pt x="2437638" y="151384"/>
                  </a:lnTo>
                  <a:lnTo>
                    <a:pt x="2437638" y="0"/>
                  </a:lnTo>
                  <a:close/>
                </a:path>
              </a:pathLst>
            </a:custGeom>
            <a:solidFill>
              <a:srgbClr val="1D24AD"/>
            </a:solidFill>
          </p:spPr>
        </p:sp>
      </p:grpSp>
      <p:sp>
        <p:nvSpPr>
          <p:cNvPr name="TextBox 16" id="16"/>
          <p:cNvSpPr txBox="true"/>
          <p:nvPr/>
        </p:nvSpPr>
        <p:spPr>
          <a:xfrm rot="0">
            <a:off x="6546057" y="334169"/>
            <a:ext cx="6026943" cy="942308"/>
          </a:xfrm>
          <a:prstGeom prst="rect">
            <a:avLst/>
          </a:prstGeom>
        </p:spPr>
        <p:txBody>
          <a:bodyPr anchor="t" rtlCol="false" tIns="0" lIns="0" bIns="0" rIns="0">
            <a:spAutoFit/>
          </a:bodyPr>
          <a:lstStyle/>
          <a:p>
            <a:pPr algn="ctr">
              <a:lnSpc>
                <a:spcPts val="6480"/>
              </a:lnSpc>
            </a:pPr>
            <a:r>
              <a:rPr lang="en-US" b="true" sz="5400" spc="-7">
                <a:solidFill>
                  <a:srgbClr val="FFFFFF"/>
                </a:solidFill>
                <a:latin typeface="Times New Roman MT Bold"/>
                <a:ea typeface="Times New Roman MT Bold"/>
                <a:cs typeface="Times New Roman MT Bold"/>
                <a:sym typeface="Times New Roman MT Bold"/>
              </a:rPr>
              <a:t>Literature Survey</a:t>
            </a:r>
          </a:p>
        </p:txBody>
      </p:sp>
      <p:graphicFrame>
        <p:nvGraphicFramePr>
          <p:cNvPr name="Table 17" id="17"/>
          <p:cNvGraphicFramePr>
            <a:graphicFrameLocks noGrp="true"/>
          </p:cNvGraphicFramePr>
          <p:nvPr/>
        </p:nvGraphicFramePr>
        <p:xfrm>
          <a:off x="342900" y="1943100"/>
          <a:ext cx="17564100" cy="7116461"/>
        </p:xfrm>
        <a:graphic>
          <a:graphicData uri="http://schemas.openxmlformats.org/drawingml/2006/table">
            <a:tbl>
              <a:tblPr/>
              <a:tblGrid>
                <a:gridCol w="5060843"/>
                <a:gridCol w="6156567"/>
                <a:gridCol w="6346690"/>
              </a:tblGrid>
              <a:tr h="1105640">
                <a:tc>
                  <a:txBody>
                    <a:bodyPr anchor="t" rtlCol="false"/>
                    <a:lstStyle/>
                    <a:p>
                      <a:pPr algn="ctr">
                        <a:lnSpc>
                          <a:spcPts val="3240"/>
                        </a:lnSpc>
                        <a:defRPr/>
                      </a:pPr>
                      <a:r>
                        <a:rPr lang="en-US" sz="2700" b="true">
                          <a:solidFill>
                            <a:srgbClr val="FFFFFF"/>
                          </a:solidFill>
                          <a:latin typeface="Arial MT Pro Bold"/>
                          <a:ea typeface="Arial MT Pro Bold"/>
                          <a:cs typeface="Arial MT Pro Bold"/>
                          <a:sym typeface="Arial MT Pro Bold"/>
                        </a:rPr>
                        <a:t>PAPER </a:t>
                      </a:r>
                      <a:endParaRPr lang="en-US" sz="1100"/>
                    </a:p>
                    <a:p>
                      <a:pPr algn="ctr">
                        <a:lnSpc>
                          <a:spcPts val="3240"/>
                        </a:lnSpc>
                      </a:pPr>
                      <a:r>
                        <a:rPr lang="en-US" sz="2700" b="true">
                          <a:solidFill>
                            <a:srgbClr val="FFFFFF"/>
                          </a:solidFill>
                          <a:latin typeface="Arial MT Pro Bold"/>
                          <a:ea typeface="Arial MT Pro Bold"/>
                          <a:cs typeface="Arial MT Pro Bold"/>
                          <a:sym typeface="Arial MT Pro Bold"/>
                        </a:rPr>
                        <a:t>TITLE &amp; AUTHOR</a:t>
                      </a:r>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4F81BD"/>
                    </a:solidFill>
                  </a:tcPr>
                </a:tc>
                <a:tc>
                  <a:txBody>
                    <a:bodyPr anchor="t" rtlCol="false"/>
                    <a:lstStyle/>
                    <a:p>
                      <a:pPr algn="ctr">
                        <a:lnSpc>
                          <a:spcPts val="3240"/>
                        </a:lnSpc>
                        <a:defRPr/>
                      </a:pPr>
                      <a:r>
                        <a:rPr lang="en-US" sz="2700" b="true">
                          <a:solidFill>
                            <a:srgbClr val="FFFFFF"/>
                          </a:solidFill>
                          <a:latin typeface="Arial MT Pro Bold"/>
                          <a:ea typeface="Arial MT Pro Bold"/>
                          <a:cs typeface="Arial MT Pro Bold"/>
                          <a:sym typeface="Arial MT Pro Bold"/>
                        </a:rPr>
                        <a:t>WORK</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4F81BD"/>
                    </a:solidFill>
                  </a:tcPr>
                </a:tc>
                <a:tc>
                  <a:txBody>
                    <a:bodyPr anchor="t" rtlCol="false"/>
                    <a:lstStyle/>
                    <a:p>
                      <a:pPr algn="ctr">
                        <a:lnSpc>
                          <a:spcPts val="3240"/>
                        </a:lnSpc>
                        <a:defRPr/>
                      </a:pPr>
                      <a:r>
                        <a:rPr lang="en-US" sz="2700" b="true">
                          <a:solidFill>
                            <a:srgbClr val="FFFFFF"/>
                          </a:solidFill>
                          <a:latin typeface="Arial MT Pro Bold"/>
                          <a:ea typeface="Arial MT Pro Bold"/>
                          <a:cs typeface="Arial MT Pro Bold"/>
                          <a:sym typeface="Arial MT Pro Bold"/>
                        </a:rPr>
                        <a:t>OUTCOME</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4F81BD"/>
                    </a:solidFill>
                  </a:tcPr>
                </a:tc>
              </a:tr>
              <a:tr h="1324862">
                <a:tc>
                  <a:txBody>
                    <a:bodyPr anchor="t" rtlCol="false"/>
                    <a:lstStyle/>
                    <a:p>
                      <a:pPr algn="l">
                        <a:lnSpc>
                          <a:spcPts val="2939"/>
                        </a:lnSpc>
                        <a:defRPr/>
                      </a:pPr>
                      <a:r>
                        <a:rPr lang="en-US" sz="2099">
                          <a:solidFill>
                            <a:srgbClr val="000000"/>
                          </a:solidFill>
                          <a:latin typeface="Arial MT Pro"/>
                          <a:ea typeface="Arial MT Pro"/>
                          <a:cs typeface="Arial MT Pro"/>
                          <a:sym typeface="Arial MT Pro"/>
                        </a:rPr>
                        <a:t>Simulation-Based evaluation of dynamic wireless charging systems for electric vehicles</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0D8E8"/>
                    </a:solidFill>
                  </a:tcPr>
                </a:tc>
                <a:tc>
                  <a:txBody>
                    <a:bodyPr anchor="t" rtlCol="false"/>
                    <a:lstStyle/>
                    <a:p>
                      <a:pPr algn="l">
                        <a:lnSpc>
                          <a:spcPts val="2939"/>
                        </a:lnSpc>
                        <a:defRPr/>
                      </a:pPr>
                      <a:r>
                        <a:rPr lang="en-US" sz="2099">
                          <a:solidFill>
                            <a:srgbClr val="000000"/>
                          </a:solidFill>
                          <a:latin typeface="Arial MT Pro"/>
                          <a:ea typeface="Arial MT Pro"/>
                          <a:cs typeface="Arial MT Pro"/>
                          <a:sym typeface="Arial MT Pro"/>
                        </a:rPr>
                        <a:t>Efficiency, limitations, and future directions</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0D8E8"/>
                    </a:solidFill>
                  </a:tcPr>
                </a:tc>
                <a:tc>
                  <a:txBody>
                    <a:bodyPr anchor="t" rtlCol="false"/>
                    <a:lstStyle/>
                    <a:p>
                      <a:pPr algn="l">
                        <a:lnSpc>
                          <a:spcPts val="2939"/>
                        </a:lnSpc>
                        <a:defRPr/>
                      </a:pPr>
                      <a:r>
                        <a:rPr lang="en-US" sz="2099">
                          <a:solidFill>
                            <a:srgbClr val="000000"/>
                          </a:solidFill>
                          <a:latin typeface="Arial MT Pro"/>
                          <a:ea typeface="Arial MT Pro"/>
                          <a:cs typeface="Arial MT Pro"/>
                          <a:sym typeface="Arial MT Pro"/>
                        </a:rPr>
                        <a:t>Understanding of efficiencylimiting factors, including misalignment, gap variation, and load fluctuations.</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0D8E8"/>
                    </a:solidFill>
                  </a:tcPr>
                </a:tc>
              </a:tr>
              <a:tr h="1015163">
                <a:tc>
                  <a:txBody>
                    <a:bodyPr anchor="t" rtlCol="false"/>
                    <a:lstStyle/>
                    <a:p>
                      <a:pPr algn="l">
                        <a:lnSpc>
                          <a:spcPts val="2939"/>
                        </a:lnSpc>
                        <a:defRPr/>
                      </a:pPr>
                      <a:r>
                        <a:rPr lang="en-US" sz="2099">
                          <a:solidFill>
                            <a:srgbClr val="000000"/>
                          </a:solidFill>
                          <a:latin typeface="Arial MT Pro"/>
                          <a:ea typeface="Arial MT Pro"/>
                          <a:cs typeface="Arial MT Pro"/>
                          <a:sym typeface="Arial MT Pro"/>
                        </a:rPr>
                        <a:t>Magnetic Resonance Coupling Modelling for Electric Vehicles Wireless Charging</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0D8E8"/>
                    </a:solidFill>
                  </a:tcPr>
                </a:tc>
                <a:tc>
                  <a:txBody>
                    <a:bodyPr anchor="t" rtlCol="false"/>
                    <a:lstStyle/>
                    <a:p>
                      <a:pPr algn="l">
                        <a:lnSpc>
                          <a:spcPts val="2939"/>
                        </a:lnSpc>
                        <a:defRPr/>
                      </a:pPr>
                      <a:r>
                        <a:rPr lang="en-US" sz="2099">
                          <a:solidFill>
                            <a:srgbClr val="000000"/>
                          </a:solidFill>
                          <a:latin typeface="Arial MT Pro"/>
                          <a:ea typeface="Arial MT Pro"/>
                          <a:cs typeface="Arial MT Pro"/>
                          <a:sym typeface="Arial MT Pro"/>
                        </a:rPr>
                        <a:t>Discusses resonant inductive coupling in motion</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0D8E8"/>
                    </a:solidFill>
                  </a:tcPr>
                </a:tc>
                <a:tc>
                  <a:txBody>
                    <a:bodyPr anchor="t" rtlCol="false"/>
                    <a:lstStyle/>
                    <a:p>
                      <a:pPr algn="l">
                        <a:lnSpc>
                          <a:spcPts val="2939"/>
                        </a:lnSpc>
                        <a:defRPr/>
                      </a:pPr>
                      <a:r>
                        <a:rPr lang="en-US" sz="2099">
                          <a:solidFill>
                            <a:srgbClr val="000000"/>
                          </a:solidFill>
                          <a:latin typeface="Arial MT Pro"/>
                          <a:ea typeface="Arial MT Pro"/>
                          <a:cs typeface="Arial MT Pro"/>
                          <a:sym typeface="Arial MT Pro"/>
                        </a:rPr>
                        <a:t>Validates our use of 21kHz magnetic resonance</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0D8E8"/>
                    </a:solidFill>
                  </a:tcPr>
                </a:tc>
              </a:tr>
              <a:tr h="1318952">
                <a:tc>
                  <a:txBody>
                    <a:bodyPr anchor="t" rtlCol="false"/>
                    <a:lstStyle/>
                    <a:p>
                      <a:pPr algn="l">
                        <a:lnSpc>
                          <a:spcPts val="2939"/>
                        </a:lnSpc>
                        <a:defRPr/>
                      </a:pPr>
                      <a:r>
                        <a:rPr lang="en-US" sz="2099">
                          <a:solidFill>
                            <a:srgbClr val="000000"/>
                          </a:solidFill>
                          <a:latin typeface="Arial MT Pro"/>
                          <a:ea typeface="Arial MT Pro"/>
                          <a:cs typeface="Arial MT Pro"/>
                          <a:sym typeface="Arial MT Pro"/>
                        </a:rPr>
                        <a:t>Smart Wireless Resonant Charging of Electric Vehicles (EV)</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0D8E8"/>
                    </a:solidFill>
                  </a:tcPr>
                </a:tc>
                <a:tc>
                  <a:txBody>
                    <a:bodyPr anchor="t" rtlCol="false"/>
                    <a:lstStyle/>
                    <a:p>
                      <a:pPr algn="l">
                        <a:lnSpc>
                          <a:spcPts val="2939"/>
                        </a:lnSpc>
                        <a:defRPr/>
                      </a:pPr>
                      <a:r>
                        <a:rPr lang="en-US" sz="2099">
                          <a:solidFill>
                            <a:srgbClr val="000000"/>
                          </a:solidFill>
                          <a:latin typeface="Arial MT Pro"/>
                          <a:ea typeface="Arial MT Pro"/>
                          <a:cs typeface="Arial MT Pro"/>
                          <a:sym typeface="Arial MT Pro"/>
                        </a:rPr>
                        <a:t>Wireless power transfer systems, including coil configuration and materials</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0D8E8"/>
                    </a:solidFill>
                  </a:tcPr>
                </a:tc>
                <a:tc>
                  <a:txBody>
                    <a:bodyPr anchor="t" rtlCol="false"/>
                    <a:lstStyle/>
                    <a:p>
                      <a:pPr algn="l">
                        <a:lnSpc>
                          <a:spcPts val="2939"/>
                        </a:lnSpc>
                        <a:defRPr/>
                      </a:pPr>
                      <a:r>
                        <a:rPr lang="en-US" sz="2099">
                          <a:solidFill>
                            <a:srgbClr val="000000"/>
                          </a:solidFill>
                          <a:latin typeface="Arial MT Pro"/>
                          <a:ea typeface="Arial MT Pro"/>
                          <a:cs typeface="Arial MT Pro"/>
                          <a:sym typeface="Arial MT Pro"/>
                        </a:rPr>
                        <a:t>Configuration and materials used in real world scenarios</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0D8E8"/>
                    </a:solidFill>
                  </a:tcPr>
                </a:tc>
              </a:tr>
              <a:tr h="1026982">
                <a:tc>
                  <a:txBody>
                    <a:bodyPr anchor="t" rtlCol="false"/>
                    <a:lstStyle/>
                    <a:p>
                      <a:pPr algn="l">
                        <a:lnSpc>
                          <a:spcPts val="2939"/>
                        </a:lnSpc>
                        <a:defRPr/>
                      </a:pPr>
                      <a:r>
                        <a:rPr lang="en-US" sz="2099">
                          <a:solidFill>
                            <a:srgbClr val="000000"/>
                          </a:solidFill>
                          <a:latin typeface="Arial MT Pro"/>
                          <a:ea typeface="Arial MT Pro"/>
                          <a:cs typeface="Arial MT Pro"/>
                          <a:sym typeface="Arial MT Pro"/>
                        </a:rPr>
                        <a:t>ESP32 &amp; IoT Billing for EVs – ResearchGate</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0D8E8"/>
                    </a:solidFill>
                  </a:tcPr>
                </a:tc>
                <a:tc>
                  <a:txBody>
                    <a:bodyPr anchor="t" rtlCol="false"/>
                    <a:lstStyle/>
                    <a:p>
                      <a:pPr algn="l">
                        <a:lnSpc>
                          <a:spcPts val="2939"/>
                        </a:lnSpc>
                        <a:defRPr/>
                      </a:pPr>
                      <a:r>
                        <a:rPr lang="en-US" sz="2099">
                          <a:solidFill>
                            <a:srgbClr val="000000"/>
                          </a:solidFill>
                          <a:latin typeface="Arial MT Pro"/>
                          <a:ea typeface="Arial MT Pro"/>
                          <a:cs typeface="Arial MT Pro"/>
                          <a:sym typeface="Arial MT Pro"/>
                        </a:rPr>
                        <a:t>Implementation of ESP32 for vehicle data sync</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0D8E8"/>
                    </a:solidFill>
                  </a:tcPr>
                </a:tc>
                <a:tc>
                  <a:txBody>
                    <a:bodyPr anchor="t" rtlCol="false"/>
                    <a:lstStyle/>
                    <a:p>
                      <a:pPr algn="l">
                        <a:lnSpc>
                          <a:spcPts val="2939"/>
                        </a:lnSpc>
                        <a:defRPr/>
                      </a:pPr>
                      <a:r>
                        <a:rPr lang="en-US" sz="2099">
                          <a:solidFill>
                            <a:srgbClr val="000000"/>
                          </a:solidFill>
                          <a:latin typeface="Arial MT Pro"/>
                          <a:ea typeface="Arial MT Pro"/>
                          <a:cs typeface="Arial MT Pro"/>
                          <a:sym typeface="Arial MT Pro"/>
                        </a:rPr>
                        <a:t>Supports our use of ESP32 for billing integration</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0D8E8"/>
                    </a:solidFill>
                  </a:tcPr>
                </a:tc>
              </a:tr>
              <a:tr h="1324862">
                <a:tc>
                  <a:txBody>
                    <a:bodyPr anchor="t" rtlCol="false"/>
                    <a:lstStyle/>
                    <a:p>
                      <a:pPr algn="l">
                        <a:lnSpc>
                          <a:spcPts val="2939"/>
                        </a:lnSpc>
                        <a:defRPr/>
                      </a:pPr>
                      <a:r>
                        <a:rPr lang="en-US" sz="2099">
                          <a:solidFill>
                            <a:srgbClr val="000000"/>
                          </a:solidFill>
                          <a:latin typeface="Arial MT Pro"/>
                          <a:ea typeface="Arial MT Pro"/>
                          <a:cs typeface="Arial MT Pro"/>
                          <a:sym typeface="Arial MT Pro"/>
                        </a:rPr>
                        <a:t>Magnetic Resonance Coupling Modelling for Electric Vehicles Wireless Charging</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0D8E8"/>
                    </a:solidFill>
                  </a:tcPr>
                </a:tc>
                <a:tc>
                  <a:txBody>
                    <a:bodyPr anchor="t" rtlCol="false"/>
                    <a:lstStyle/>
                    <a:p>
                      <a:pPr algn="l">
                        <a:lnSpc>
                          <a:spcPts val="2939"/>
                        </a:lnSpc>
                        <a:defRPr/>
                      </a:pPr>
                      <a:r>
                        <a:rPr lang="en-US" sz="2099">
                          <a:solidFill>
                            <a:srgbClr val="000000"/>
                          </a:solidFill>
                          <a:latin typeface="Arial MT Pro"/>
                          <a:ea typeface="Arial MT Pro"/>
                          <a:cs typeface="Arial MT Pro"/>
                          <a:sym typeface="Arial MT Pro"/>
                        </a:rPr>
                        <a:t>The feasibility of wireless power transfer for Electric Vehicles by electromagnetic resonance coupling is modelled in this paper.</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0D8E8"/>
                    </a:solidFill>
                  </a:tcPr>
                </a:tc>
                <a:tc>
                  <a:txBody>
                    <a:bodyPr anchor="t" rtlCol="false"/>
                    <a:lstStyle/>
                    <a:p>
                      <a:pPr algn="l">
                        <a:lnSpc>
                          <a:spcPts val="2939"/>
                        </a:lnSpc>
                        <a:defRPr/>
                      </a:pPr>
                      <a:r>
                        <a:rPr lang="en-US" sz="2099">
                          <a:solidFill>
                            <a:srgbClr val="000000"/>
                          </a:solidFill>
                          <a:latin typeface="Arial MT Pro"/>
                          <a:ea typeface="Arial MT Pro"/>
                          <a:cs typeface="Arial MT Pro"/>
                          <a:sym typeface="Arial MT Pro"/>
                        </a:rPr>
                        <a:t>Wireless energy transfer system reaches the maximum (96%) at the resonant frequency</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0D8E8"/>
                    </a:solidFill>
                  </a:tcPr>
                </a:tc>
              </a:tr>
            </a:tbl>
          </a:graphicData>
        </a:graphic>
      </p:graphicFrame>
      <p:grpSp>
        <p:nvGrpSpPr>
          <p:cNvPr name="Group 18" id="18"/>
          <p:cNvGrpSpPr>
            <a:grpSpLocks noChangeAspect="true"/>
          </p:cNvGrpSpPr>
          <p:nvPr/>
        </p:nvGrpSpPr>
        <p:grpSpPr>
          <a:xfrm rot="0">
            <a:off x="14414500" y="9644064"/>
            <a:ext cx="1892299" cy="528638"/>
            <a:chOff x="0" y="0"/>
            <a:chExt cx="2523066" cy="704850"/>
          </a:xfrm>
        </p:grpSpPr>
        <p:sp>
          <p:nvSpPr>
            <p:cNvPr name="Freeform 19" id="19"/>
            <p:cNvSpPr/>
            <p:nvPr/>
          </p:nvSpPr>
          <p:spPr>
            <a:xfrm flipH="false" flipV="false" rot="0">
              <a:off x="0" y="0"/>
              <a:ext cx="2523109" cy="704850"/>
            </a:xfrm>
            <a:custGeom>
              <a:avLst/>
              <a:gdLst/>
              <a:ahLst/>
              <a:cxnLst/>
              <a:rect r="r" b="b" t="t" l="l"/>
              <a:pathLst>
                <a:path h="704850" w="2523109">
                  <a:moveTo>
                    <a:pt x="0" y="0"/>
                  </a:moveTo>
                  <a:lnTo>
                    <a:pt x="2523109" y="0"/>
                  </a:lnTo>
                  <a:lnTo>
                    <a:pt x="2523109" y="704850"/>
                  </a:lnTo>
                  <a:lnTo>
                    <a:pt x="0" y="704850"/>
                  </a:lnTo>
                  <a:lnTo>
                    <a:pt x="0" y="0"/>
                  </a:lnTo>
                  <a:close/>
                </a:path>
              </a:pathLst>
            </a:custGeom>
            <a:blipFill>
              <a:blip r:embed="rId3"/>
              <a:stretch>
                <a:fillRect l="0" t="-17417" r="0" b="-17966"/>
              </a:stretch>
            </a:blipFill>
          </p:spPr>
        </p:sp>
      </p:grpSp>
    </p:spTree>
  </p:cSld>
  <p:clrMapOvr>
    <a:masterClrMapping/>
  </p:clrMapOvr>
  <p:transition spd="slow">
    <p:push dir="l"/>
  </p:transition>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7068800" cy="1600200"/>
            <a:chOff x="0" y="0"/>
            <a:chExt cx="22758400" cy="2133600"/>
          </a:xfrm>
        </p:grpSpPr>
        <p:sp>
          <p:nvSpPr>
            <p:cNvPr name="Freeform 3" id="3"/>
            <p:cNvSpPr/>
            <p:nvPr/>
          </p:nvSpPr>
          <p:spPr>
            <a:xfrm flipH="false" flipV="false" rot="0">
              <a:off x="0" y="0"/>
              <a:ext cx="22757764" cy="2132838"/>
            </a:xfrm>
            <a:custGeom>
              <a:avLst/>
              <a:gdLst/>
              <a:ahLst/>
              <a:cxnLst/>
              <a:rect r="r" b="b" t="t" l="l"/>
              <a:pathLst>
                <a:path h="2132838" w="22757764">
                  <a:moveTo>
                    <a:pt x="0" y="2132838"/>
                  </a:moveTo>
                  <a:lnTo>
                    <a:pt x="22757764" y="2132838"/>
                  </a:lnTo>
                  <a:lnTo>
                    <a:pt x="22757764" y="0"/>
                  </a:lnTo>
                  <a:lnTo>
                    <a:pt x="0" y="0"/>
                  </a:lnTo>
                  <a:lnTo>
                    <a:pt x="0" y="2132838"/>
                  </a:lnTo>
                  <a:close/>
                </a:path>
              </a:pathLst>
            </a:custGeom>
            <a:solidFill>
              <a:srgbClr val="1D24AD"/>
            </a:solidFill>
          </p:spPr>
        </p:sp>
      </p:grpSp>
      <p:grpSp>
        <p:nvGrpSpPr>
          <p:cNvPr name="Group 4" id="4"/>
          <p:cNvGrpSpPr/>
          <p:nvPr/>
        </p:nvGrpSpPr>
        <p:grpSpPr>
          <a:xfrm rot="0">
            <a:off x="17068800" y="0"/>
            <a:ext cx="1219200" cy="1600200"/>
            <a:chOff x="0" y="0"/>
            <a:chExt cx="1625600" cy="2133600"/>
          </a:xfrm>
        </p:grpSpPr>
        <p:sp>
          <p:nvSpPr>
            <p:cNvPr name="Freeform 5" id="5"/>
            <p:cNvSpPr/>
            <p:nvPr/>
          </p:nvSpPr>
          <p:spPr>
            <a:xfrm flipH="false" flipV="false" rot="0">
              <a:off x="0" y="0"/>
              <a:ext cx="1624584" cy="2132838"/>
            </a:xfrm>
            <a:custGeom>
              <a:avLst/>
              <a:gdLst/>
              <a:ahLst/>
              <a:cxnLst/>
              <a:rect r="r" b="b" t="t" l="l"/>
              <a:pathLst>
                <a:path h="2132838" w="1624584">
                  <a:moveTo>
                    <a:pt x="1624584" y="0"/>
                  </a:moveTo>
                  <a:lnTo>
                    <a:pt x="0" y="0"/>
                  </a:lnTo>
                  <a:lnTo>
                    <a:pt x="0" y="2132838"/>
                  </a:lnTo>
                  <a:lnTo>
                    <a:pt x="1624584" y="2132838"/>
                  </a:lnTo>
                  <a:lnTo>
                    <a:pt x="1624584" y="0"/>
                  </a:lnTo>
                  <a:close/>
                </a:path>
              </a:pathLst>
            </a:custGeom>
            <a:solidFill>
              <a:srgbClr val="E99213"/>
            </a:solidFill>
          </p:spPr>
        </p:sp>
      </p:grpSp>
      <p:grpSp>
        <p:nvGrpSpPr>
          <p:cNvPr name="Group 6" id="6"/>
          <p:cNvGrpSpPr/>
          <p:nvPr/>
        </p:nvGrpSpPr>
        <p:grpSpPr>
          <a:xfrm rot="0">
            <a:off x="17049631" y="-19169"/>
            <a:ext cx="1257538" cy="1638538"/>
            <a:chOff x="0" y="0"/>
            <a:chExt cx="1676718" cy="2184718"/>
          </a:xfrm>
        </p:grpSpPr>
        <p:sp>
          <p:nvSpPr>
            <p:cNvPr name="Freeform 7" id="7"/>
            <p:cNvSpPr/>
            <p:nvPr/>
          </p:nvSpPr>
          <p:spPr>
            <a:xfrm flipH="false" flipV="false" rot="0">
              <a:off x="0" y="0"/>
              <a:ext cx="1675638" cy="2183892"/>
            </a:xfrm>
            <a:custGeom>
              <a:avLst/>
              <a:gdLst/>
              <a:ahLst/>
              <a:cxnLst/>
              <a:rect r="r" b="b" t="t" l="l"/>
              <a:pathLst>
                <a:path h="2183892" w="1675638">
                  <a:moveTo>
                    <a:pt x="25527" y="0"/>
                  </a:moveTo>
                  <a:lnTo>
                    <a:pt x="1650111" y="0"/>
                  </a:lnTo>
                  <a:cubicBezTo>
                    <a:pt x="1664208" y="0"/>
                    <a:pt x="1675638" y="11430"/>
                    <a:pt x="1675638" y="25527"/>
                  </a:cubicBezTo>
                  <a:lnTo>
                    <a:pt x="1675638" y="2158365"/>
                  </a:lnTo>
                  <a:cubicBezTo>
                    <a:pt x="1675638" y="2172462"/>
                    <a:pt x="1664208" y="2183892"/>
                    <a:pt x="1650111" y="2183892"/>
                  </a:cubicBezTo>
                  <a:lnTo>
                    <a:pt x="25527" y="2183892"/>
                  </a:lnTo>
                  <a:cubicBezTo>
                    <a:pt x="11430" y="2183892"/>
                    <a:pt x="0" y="2172462"/>
                    <a:pt x="0" y="2158365"/>
                  </a:cubicBezTo>
                  <a:lnTo>
                    <a:pt x="0" y="25527"/>
                  </a:lnTo>
                  <a:cubicBezTo>
                    <a:pt x="0" y="11430"/>
                    <a:pt x="11430" y="0"/>
                    <a:pt x="25527" y="0"/>
                  </a:cubicBezTo>
                  <a:moveTo>
                    <a:pt x="25527" y="51181"/>
                  </a:moveTo>
                  <a:lnTo>
                    <a:pt x="25527" y="25527"/>
                  </a:lnTo>
                  <a:lnTo>
                    <a:pt x="51181" y="25527"/>
                  </a:lnTo>
                  <a:lnTo>
                    <a:pt x="51181" y="2158365"/>
                  </a:lnTo>
                  <a:lnTo>
                    <a:pt x="25527" y="2158365"/>
                  </a:lnTo>
                  <a:lnTo>
                    <a:pt x="25527" y="2132838"/>
                  </a:lnTo>
                  <a:lnTo>
                    <a:pt x="1650111" y="2132838"/>
                  </a:lnTo>
                  <a:lnTo>
                    <a:pt x="1650111" y="2158365"/>
                  </a:lnTo>
                  <a:lnTo>
                    <a:pt x="1624584" y="2158365"/>
                  </a:lnTo>
                  <a:lnTo>
                    <a:pt x="1624584" y="25527"/>
                  </a:lnTo>
                  <a:lnTo>
                    <a:pt x="1650111" y="25527"/>
                  </a:lnTo>
                  <a:lnTo>
                    <a:pt x="1650111" y="51181"/>
                  </a:lnTo>
                  <a:lnTo>
                    <a:pt x="25527" y="51181"/>
                  </a:lnTo>
                  <a:close/>
                </a:path>
              </a:pathLst>
            </a:custGeom>
            <a:solidFill>
              <a:srgbClr val="E99213"/>
            </a:solidFill>
          </p:spPr>
        </p:sp>
      </p:grpSp>
      <p:grpSp>
        <p:nvGrpSpPr>
          <p:cNvPr name="Group 8" id="8"/>
          <p:cNvGrpSpPr/>
          <p:nvPr/>
        </p:nvGrpSpPr>
        <p:grpSpPr>
          <a:xfrm rot="0">
            <a:off x="0" y="9944100"/>
            <a:ext cx="14325600" cy="142875"/>
            <a:chOff x="0" y="0"/>
            <a:chExt cx="19100800" cy="190500"/>
          </a:xfrm>
        </p:grpSpPr>
        <p:sp>
          <p:nvSpPr>
            <p:cNvPr name="Freeform 9" id="9"/>
            <p:cNvSpPr/>
            <p:nvPr/>
          </p:nvSpPr>
          <p:spPr>
            <a:xfrm flipH="false" flipV="false" rot="0">
              <a:off x="0" y="0"/>
              <a:ext cx="19100419" cy="189484"/>
            </a:xfrm>
            <a:custGeom>
              <a:avLst/>
              <a:gdLst/>
              <a:ahLst/>
              <a:cxnLst/>
              <a:rect r="r" b="b" t="t" l="l"/>
              <a:pathLst>
                <a:path h="189484" w="19100419">
                  <a:moveTo>
                    <a:pt x="19100419" y="0"/>
                  </a:moveTo>
                  <a:lnTo>
                    <a:pt x="0" y="0"/>
                  </a:lnTo>
                  <a:lnTo>
                    <a:pt x="0" y="189484"/>
                  </a:lnTo>
                  <a:lnTo>
                    <a:pt x="19100419" y="189484"/>
                  </a:lnTo>
                  <a:lnTo>
                    <a:pt x="19100419" y="0"/>
                  </a:lnTo>
                  <a:close/>
                </a:path>
              </a:pathLst>
            </a:custGeom>
            <a:solidFill>
              <a:srgbClr val="E99213"/>
            </a:solidFill>
          </p:spPr>
        </p:sp>
      </p:grpSp>
      <p:grpSp>
        <p:nvGrpSpPr>
          <p:cNvPr name="Group 10" id="10"/>
          <p:cNvGrpSpPr/>
          <p:nvPr/>
        </p:nvGrpSpPr>
        <p:grpSpPr>
          <a:xfrm rot="0">
            <a:off x="0" y="9715500"/>
            <a:ext cx="14325600" cy="142875"/>
            <a:chOff x="0" y="0"/>
            <a:chExt cx="19100800" cy="190500"/>
          </a:xfrm>
        </p:grpSpPr>
        <p:sp>
          <p:nvSpPr>
            <p:cNvPr name="Freeform 11" id="11"/>
            <p:cNvSpPr/>
            <p:nvPr/>
          </p:nvSpPr>
          <p:spPr>
            <a:xfrm flipH="false" flipV="false" rot="0">
              <a:off x="0" y="0"/>
              <a:ext cx="19100419" cy="189484"/>
            </a:xfrm>
            <a:custGeom>
              <a:avLst/>
              <a:gdLst/>
              <a:ahLst/>
              <a:cxnLst/>
              <a:rect r="r" b="b" t="t" l="l"/>
              <a:pathLst>
                <a:path h="189484" w="19100419">
                  <a:moveTo>
                    <a:pt x="19100419" y="0"/>
                  </a:moveTo>
                  <a:lnTo>
                    <a:pt x="0" y="0"/>
                  </a:lnTo>
                  <a:lnTo>
                    <a:pt x="0" y="189484"/>
                  </a:lnTo>
                  <a:lnTo>
                    <a:pt x="19100419" y="189484"/>
                  </a:lnTo>
                  <a:lnTo>
                    <a:pt x="19100419" y="0"/>
                  </a:lnTo>
                  <a:close/>
                </a:path>
              </a:pathLst>
            </a:custGeom>
            <a:solidFill>
              <a:srgbClr val="1D24AD"/>
            </a:solidFill>
          </p:spPr>
        </p:sp>
      </p:grpSp>
      <p:grpSp>
        <p:nvGrpSpPr>
          <p:cNvPr name="Group 12" id="12"/>
          <p:cNvGrpSpPr/>
          <p:nvPr/>
        </p:nvGrpSpPr>
        <p:grpSpPr>
          <a:xfrm rot="0">
            <a:off x="16459200" y="9944100"/>
            <a:ext cx="1828800" cy="114300"/>
            <a:chOff x="0" y="0"/>
            <a:chExt cx="2438400" cy="152400"/>
          </a:xfrm>
        </p:grpSpPr>
        <p:sp>
          <p:nvSpPr>
            <p:cNvPr name="Freeform 13" id="13"/>
            <p:cNvSpPr/>
            <p:nvPr/>
          </p:nvSpPr>
          <p:spPr>
            <a:xfrm flipH="false" flipV="false" rot="0">
              <a:off x="0" y="0"/>
              <a:ext cx="2437638" cy="151384"/>
            </a:xfrm>
            <a:custGeom>
              <a:avLst/>
              <a:gdLst/>
              <a:ahLst/>
              <a:cxnLst/>
              <a:rect r="r" b="b" t="t" l="l"/>
              <a:pathLst>
                <a:path h="151384" w="2437638">
                  <a:moveTo>
                    <a:pt x="2437638" y="0"/>
                  </a:moveTo>
                  <a:lnTo>
                    <a:pt x="0" y="0"/>
                  </a:lnTo>
                  <a:lnTo>
                    <a:pt x="0" y="151384"/>
                  </a:lnTo>
                  <a:lnTo>
                    <a:pt x="2437638" y="151384"/>
                  </a:lnTo>
                  <a:lnTo>
                    <a:pt x="2437638" y="0"/>
                  </a:lnTo>
                  <a:close/>
                </a:path>
              </a:pathLst>
            </a:custGeom>
            <a:solidFill>
              <a:srgbClr val="E99213"/>
            </a:solidFill>
          </p:spPr>
        </p:sp>
      </p:grpSp>
      <p:grpSp>
        <p:nvGrpSpPr>
          <p:cNvPr name="Group 14" id="14"/>
          <p:cNvGrpSpPr/>
          <p:nvPr/>
        </p:nvGrpSpPr>
        <p:grpSpPr>
          <a:xfrm rot="0">
            <a:off x="16459200" y="9715500"/>
            <a:ext cx="1828800" cy="114300"/>
            <a:chOff x="0" y="0"/>
            <a:chExt cx="2438400" cy="152400"/>
          </a:xfrm>
        </p:grpSpPr>
        <p:sp>
          <p:nvSpPr>
            <p:cNvPr name="Freeform 15" id="15"/>
            <p:cNvSpPr/>
            <p:nvPr/>
          </p:nvSpPr>
          <p:spPr>
            <a:xfrm flipH="false" flipV="false" rot="0">
              <a:off x="0" y="0"/>
              <a:ext cx="2437638" cy="151384"/>
            </a:xfrm>
            <a:custGeom>
              <a:avLst/>
              <a:gdLst/>
              <a:ahLst/>
              <a:cxnLst/>
              <a:rect r="r" b="b" t="t" l="l"/>
              <a:pathLst>
                <a:path h="151384" w="2437638">
                  <a:moveTo>
                    <a:pt x="2437638" y="0"/>
                  </a:moveTo>
                  <a:lnTo>
                    <a:pt x="0" y="0"/>
                  </a:lnTo>
                  <a:lnTo>
                    <a:pt x="0" y="151384"/>
                  </a:lnTo>
                  <a:lnTo>
                    <a:pt x="2437638" y="151384"/>
                  </a:lnTo>
                  <a:lnTo>
                    <a:pt x="2437638" y="0"/>
                  </a:lnTo>
                  <a:close/>
                </a:path>
              </a:pathLst>
            </a:custGeom>
            <a:solidFill>
              <a:srgbClr val="1D24AD"/>
            </a:solidFill>
          </p:spPr>
        </p:sp>
      </p:grpSp>
      <p:sp>
        <p:nvSpPr>
          <p:cNvPr name="TextBox 16" id="16"/>
          <p:cNvSpPr txBox="true"/>
          <p:nvPr/>
        </p:nvSpPr>
        <p:spPr>
          <a:xfrm rot="0">
            <a:off x="2400300" y="260352"/>
            <a:ext cx="12687300" cy="840451"/>
          </a:xfrm>
          <a:prstGeom prst="rect">
            <a:avLst/>
          </a:prstGeom>
        </p:spPr>
        <p:txBody>
          <a:bodyPr anchor="t" rtlCol="false" tIns="0" lIns="0" bIns="0" rIns="0">
            <a:spAutoFit/>
          </a:bodyPr>
          <a:lstStyle/>
          <a:p>
            <a:pPr algn="ctr">
              <a:lnSpc>
                <a:spcPts val="5759"/>
              </a:lnSpc>
            </a:pPr>
            <a:r>
              <a:rPr lang="en-US" b="true" sz="4800" spc="-7">
                <a:solidFill>
                  <a:srgbClr val="FFFFFF"/>
                </a:solidFill>
                <a:latin typeface="Times New Roman MT Bold"/>
                <a:ea typeface="Times New Roman MT Bold"/>
                <a:cs typeface="Times New Roman MT Bold"/>
                <a:sym typeface="Times New Roman MT Bold"/>
              </a:rPr>
              <a:t>Problems Identified and Solutions Suggested</a:t>
            </a:r>
          </a:p>
        </p:txBody>
      </p:sp>
      <p:grpSp>
        <p:nvGrpSpPr>
          <p:cNvPr name="Group 17" id="17"/>
          <p:cNvGrpSpPr>
            <a:grpSpLocks noChangeAspect="true"/>
          </p:cNvGrpSpPr>
          <p:nvPr/>
        </p:nvGrpSpPr>
        <p:grpSpPr>
          <a:xfrm rot="0">
            <a:off x="14414500" y="9644064"/>
            <a:ext cx="1892299" cy="528638"/>
            <a:chOff x="0" y="0"/>
            <a:chExt cx="2523066" cy="704850"/>
          </a:xfrm>
        </p:grpSpPr>
        <p:sp>
          <p:nvSpPr>
            <p:cNvPr name="Freeform 18" id="18"/>
            <p:cNvSpPr/>
            <p:nvPr/>
          </p:nvSpPr>
          <p:spPr>
            <a:xfrm flipH="false" flipV="false" rot="0">
              <a:off x="0" y="0"/>
              <a:ext cx="2523109" cy="704850"/>
            </a:xfrm>
            <a:custGeom>
              <a:avLst/>
              <a:gdLst/>
              <a:ahLst/>
              <a:cxnLst/>
              <a:rect r="r" b="b" t="t" l="l"/>
              <a:pathLst>
                <a:path h="704850" w="2523109">
                  <a:moveTo>
                    <a:pt x="0" y="0"/>
                  </a:moveTo>
                  <a:lnTo>
                    <a:pt x="2523109" y="0"/>
                  </a:lnTo>
                  <a:lnTo>
                    <a:pt x="2523109" y="704850"/>
                  </a:lnTo>
                  <a:lnTo>
                    <a:pt x="0" y="704850"/>
                  </a:lnTo>
                  <a:lnTo>
                    <a:pt x="0" y="0"/>
                  </a:lnTo>
                  <a:close/>
                </a:path>
              </a:pathLst>
            </a:custGeom>
            <a:blipFill>
              <a:blip r:embed="rId2"/>
              <a:stretch>
                <a:fillRect l="0" t="-17417" r="0" b="-17966"/>
              </a:stretch>
            </a:blipFill>
          </p:spPr>
        </p:sp>
      </p:grpSp>
      <p:sp>
        <p:nvSpPr>
          <p:cNvPr name="TextBox 19" id="19"/>
          <p:cNvSpPr txBox="true"/>
          <p:nvPr/>
        </p:nvSpPr>
        <p:spPr>
          <a:xfrm rot="0">
            <a:off x="2327727" y="1885653"/>
            <a:ext cx="13632546" cy="7372647"/>
          </a:xfrm>
          <a:prstGeom prst="rect">
            <a:avLst/>
          </a:prstGeom>
        </p:spPr>
        <p:txBody>
          <a:bodyPr anchor="t" rtlCol="false" tIns="0" lIns="0" bIns="0" rIns="0">
            <a:spAutoFit/>
          </a:bodyPr>
          <a:lstStyle/>
          <a:p>
            <a:pPr algn="l">
              <a:lnSpc>
                <a:spcPts val="5566"/>
              </a:lnSpc>
            </a:pPr>
            <a:r>
              <a:rPr lang="en-US" b="true" sz="3415">
                <a:solidFill>
                  <a:srgbClr val="000000"/>
                </a:solidFill>
                <a:latin typeface="Arial MT Pro Bold"/>
                <a:ea typeface="Arial MT Pro Bold"/>
                <a:cs typeface="Arial MT Pro Bold"/>
                <a:sym typeface="Arial MT Pro Bold"/>
              </a:rPr>
              <a:t>Problem: </a:t>
            </a:r>
          </a:p>
          <a:p>
            <a:pPr algn="l">
              <a:lnSpc>
                <a:spcPts val="4082"/>
              </a:lnSpc>
            </a:pPr>
            <a:r>
              <a:rPr lang="en-US" b="true" sz="2504">
                <a:solidFill>
                  <a:srgbClr val="000000"/>
                </a:solidFill>
                <a:latin typeface="Arial MT Pro Bold"/>
                <a:ea typeface="Arial MT Pro Bold"/>
                <a:cs typeface="Arial MT Pro Bold"/>
                <a:sym typeface="Arial MT Pro Bold"/>
              </a:rPr>
              <a:t>Grid Bottleneck:</a:t>
            </a:r>
            <a:r>
              <a:rPr lang="en-US" sz="2504">
                <a:solidFill>
                  <a:srgbClr val="000000"/>
                </a:solidFill>
                <a:latin typeface="Arial MT Pro"/>
                <a:ea typeface="Arial MT Pro"/>
                <a:cs typeface="Arial MT Pro"/>
                <a:sym typeface="Arial MT Pro"/>
              </a:rPr>
              <a:t> Static charging nodes can’t meet the high current demand of cargo fleets, leading to local grid congestion and queuing delays.</a:t>
            </a:r>
          </a:p>
          <a:p>
            <a:pPr algn="l">
              <a:lnSpc>
                <a:spcPts val="4082"/>
              </a:lnSpc>
            </a:pPr>
            <a:r>
              <a:rPr lang="en-US" b="true" sz="2504">
                <a:solidFill>
                  <a:srgbClr val="000000"/>
                </a:solidFill>
                <a:latin typeface="Arial MT Pro Bold"/>
                <a:ea typeface="Arial MT Pro Bold"/>
                <a:cs typeface="Arial MT Pro Bold"/>
                <a:sym typeface="Arial MT Pro Bold"/>
              </a:rPr>
              <a:t>Oversized Batteries:</a:t>
            </a:r>
            <a:r>
              <a:rPr lang="en-US" sz="2504">
                <a:solidFill>
                  <a:srgbClr val="000000"/>
                </a:solidFill>
                <a:latin typeface="Arial MT Pro"/>
                <a:ea typeface="Arial MT Pro"/>
                <a:cs typeface="Arial MT Pro"/>
                <a:sym typeface="Arial MT Pro"/>
              </a:rPr>
              <a:t> Lack of in-transit charging forces use of large Li-ion packs, increasing vehicle mass, cost, and peak grid load.</a:t>
            </a:r>
          </a:p>
          <a:p>
            <a:pPr algn="l">
              <a:lnSpc>
                <a:spcPts val="4082"/>
              </a:lnSpc>
            </a:pPr>
            <a:r>
              <a:rPr lang="en-US" b="true" sz="2504">
                <a:solidFill>
                  <a:srgbClr val="000000"/>
                </a:solidFill>
                <a:latin typeface="Arial MT Pro Bold"/>
                <a:ea typeface="Arial MT Pro Bold"/>
                <a:cs typeface="Arial MT Pro Bold"/>
                <a:sym typeface="Arial MT Pro Bold"/>
              </a:rPr>
              <a:t>Downtime:</a:t>
            </a:r>
            <a:r>
              <a:rPr lang="en-US" sz="2504">
                <a:solidFill>
                  <a:srgbClr val="000000"/>
                </a:solidFill>
                <a:latin typeface="Arial MT Pro"/>
                <a:ea typeface="Arial MT Pro"/>
                <a:cs typeface="Arial MT Pro"/>
                <a:sym typeface="Arial MT Pro"/>
              </a:rPr>
              <a:t> Plug-in charging causes 1–2 hrs idle time, reducing fleet utilization.</a:t>
            </a:r>
          </a:p>
          <a:p>
            <a:pPr algn="l">
              <a:lnSpc>
                <a:spcPts val="2054"/>
              </a:lnSpc>
            </a:pPr>
          </a:p>
          <a:p>
            <a:pPr algn="l">
              <a:lnSpc>
                <a:spcPts val="5566"/>
              </a:lnSpc>
            </a:pPr>
            <a:r>
              <a:rPr lang="en-US" b="true" sz="3415">
                <a:solidFill>
                  <a:srgbClr val="000000"/>
                </a:solidFill>
                <a:latin typeface="Arial MT Pro Bold"/>
                <a:ea typeface="Arial MT Pro Bold"/>
                <a:cs typeface="Arial MT Pro Bold"/>
                <a:sym typeface="Arial MT Pro Bold"/>
              </a:rPr>
              <a:t>Solution: </a:t>
            </a:r>
          </a:p>
          <a:p>
            <a:pPr algn="l">
              <a:lnSpc>
                <a:spcPts val="4082"/>
              </a:lnSpc>
            </a:pPr>
            <a:r>
              <a:rPr lang="en-US" b="true" sz="2504">
                <a:solidFill>
                  <a:srgbClr val="000000"/>
                </a:solidFill>
                <a:latin typeface="Arial MT Pro Bold"/>
                <a:ea typeface="Arial MT Pro Bold"/>
                <a:cs typeface="Arial MT Pro Bold"/>
                <a:sym typeface="Arial MT Pro Bold"/>
              </a:rPr>
              <a:t>Dynamic Wireless Power Transfer (DWPT):</a:t>
            </a:r>
            <a:r>
              <a:rPr lang="en-US" sz="2504">
                <a:solidFill>
                  <a:srgbClr val="000000"/>
                </a:solidFill>
                <a:latin typeface="Arial MT Pro"/>
                <a:ea typeface="Arial MT Pro"/>
                <a:cs typeface="Arial MT Pro"/>
                <a:sym typeface="Arial MT Pro"/>
              </a:rPr>
              <a:t> Enables ~50% smaller batteries, cutting vehicle cost by ~40%.</a:t>
            </a:r>
          </a:p>
          <a:p>
            <a:pPr algn="l">
              <a:lnSpc>
                <a:spcPts val="4082"/>
              </a:lnSpc>
            </a:pPr>
            <a:r>
              <a:rPr lang="en-US" b="true" sz="2504">
                <a:solidFill>
                  <a:srgbClr val="000000"/>
                </a:solidFill>
                <a:latin typeface="Arial MT Pro Bold"/>
                <a:ea typeface="Arial MT Pro Bold"/>
                <a:cs typeface="Arial MT Pro Bold"/>
                <a:sym typeface="Arial MT Pro Bold"/>
              </a:rPr>
              <a:t>High Efficiency:</a:t>
            </a:r>
            <a:r>
              <a:rPr lang="en-US" sz="2504">
                <a:solidFill>
                  <a:srgbClr val="000000"/>
                </a:solidFill>
                <a:latin typeface="Arial MT Pro"/>
                <a:ea typeface="Arial MT Pro"/>
                <a:cs typeface="Arial MT Pro"/>
                <a:sym typeface="Arial MT Pro"/>
              </a:rPr>
              <a:t> Resonant inductive coupling achieves 80–90% transfer efficiency.</a:t>
            </a:r>
          </a:p>
          <a:p>
            <a:pPr algn="l">
              <a:lnSpc>
                <a:spcPts val="4082"/>
              </a:lnSpc>
            </a:pPr>
            <a:r>
              <a:rPr lang="en-US" b="true" sz="2504">
                <a:solidFill>
                  <a:srgbClr val="000000"/>
                </a:solidFill>
                <a:latin typeface="Arial MT Pro Bold"/>
                <a:ea typeface="Arial MT Pro Bold"/>
                <a:cs typeface="Arial MT Pro Bold"/>
                <a:sym typeface="Arial MT Pro Bold"/>
              </a:rPr>
              <a:t>Sustainability:</a:t>
            </a:r>
            <a:r>
              <a:rPr lang="en-US" sz="2504">
                <a:solidFill>
                  <a:srgbClr val="000000"/>
                </a:solidFill>
                <a:latin typeface="Arial MT Pro"/>
                <a:ea typeface="Arial MT Pro"/>
                <a:cs typeface="Arial MT Pro"/>
                <a:sym typeface="Arial MT Pro"/>
              </a:rPr>
              <a:t> Reduces lithium demand, CO₂ emissions, and e-waste.</a:t>
            </a:r>
          </a:p>
          <a:p>
            <a:pPr algn="l">
              <a:lnSpc>
                <a:spcPts val="4082"/>
              </a:lnSpc>
            </a:pPr>
            <a:r>
              <a:rPr lang="en-US" b="true" sz="2504">
                <a:solidFill>
                  <a:srgbClr val="000000"/>
                </a:solidFill>
                <a:latin typeface="Arial MT Pro Bold"/>
                <a:ea typeface="Arial MT Pro Bold"/>
                <a:cs typeface="Arial MT Pro Bold"/>
                <a:sym typeface="Arial MT Pro Bold"/>
              </a:rPr>
              <a:t>Continuous Operation:</a:t>
            </a:r>
            <a:r>
              <a:rPr lang="en-US" sz="2504">
                <a:solidFill>
                  <a:srgbClr val="000000"/>
                </a:solidFill>
                <a:latin typeface="Arial MT Pro"/>
                <a:ea typeface="Arial MT Pro"/>
                <a:cs typeface="Arial MT Pro"/>
                <a:sym typeface="Arial MT Pro"/>
              </a:rPr>
              <a:t> In-motion charging provides limitless range and maximum logistics throughput.</a:t>
            </a:r>
          </a:p>
        </p:txBody>
      </p:sp>
    </p:spTree>
  </p:cSld>
  <p:clrMapOvr>
    <a:masterClrMapping/>
  </p:clrMapOvr>
  <p:transition spd="slow">
    <p:push dir="l"/>
  </p:transition>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7068800" cy="1600200"/>
            <a:chOff x="0" y="0"/>
            <a:chExt cx="22758400" cy="2133600"/>
          </a:xfrm>
        </p:grpSpPr>
        <p:sp>
          <p:nvSpPr>
            <p:cNvPr name="Freeform 3" id="3"/>
            <p:cNvSpPr/>
            <p:nvPr/>
          </p:nvSpPr>
          <p:spPr>
            <a:xfrm flipH="false" flipV="false" rot="0">
              <a:off x="0" y="0"/>
              <a:ext cx="22757764" cy="2132838"/>
            </a:xfrm>
            <a:custGeom>
              <a:avLst/>
              <a:gdLst/>
              <a:ahLst/>
              <a:cxnLst/>
              <a:rect r="r" b="b" t="t" l="l"/>
              <a:pathLst>
                <a:path h="2132838" w="22757764">
                  <a:moveTo>
                    <a:pt x="0" y="2132838"/>
                  </a:moveTo>
                  <a:lnTo>
                    <a:pt x="22757764" y="2132838"/>
                  </a:lnTo>
                  <a:lnTo>
                    <a:pt x="22757764" y="0"/>
                  </a:lnTo>
                  <a:lnTo>
                    <a:pt x="0" y="0"/>
                  </a:lnTo>
                  <a:lnTo>
                    <a:pt x="0" y="2132838"/>
                  </a:lnTo>
                  <a:close/>
                </a:path>
              </a:pathLst>
            </a:custGeom>
            <a:solidFill>
              <a:srgbClr val="1D24AD"/>
            </a:solidFill>
          </p:spPr>
        </p:sp>
      </p:grpSp>
      <p:grpSp>
        <p:nvGrpSpPr>
          <p:cNvPr name="Group 4" id="4"/>
          <p:cNvGrpSpPr/>
          <p:nvPr/>
        </p:nvGrpSpPr>
        <p:grpSpPr>
          <a:xfrm rot="0">
            <a:off x="17068800" y="0"/>
            <a:ext cx="1219200" cy="1600200"/>
            <a:chOff x="0" y="0"/>
            <a:chExt cx="1625600" cy="2133600"/>
          </a:xfrm>
        </p:grpSpPr>
        <p:sp>
          <p:nvSpPr>
            <p:cNvPr name="Freeform 5" id="5"/>
            <p:cNvSpPr/>
            <p:nvPr/>
          </p:nvSpPr>
          <p:spPr>
            <a:xfrm flipH="false" flipV="false" rot="0">
              <a:off x="0" y="0"/>
              <a:ext cx="1624584" cy="2132838"/>
            </a:xfrm>
            <a:custGeom>
              <a:avLst/>
              <a:gdLst/>
              <a:ahLst/>
              <a:cxnLst/>
              <a:rect r="r" b="b" t="t" l="l"/>
              <a:pathLst>
                <a:path h="2132838" w="1624584">
                  <a:moveTo>
                    <a:pt x="1624584" y="0"/>
                  </a:moveTo>
                  <a:lnTo>
                    <a:pt x="0" y="0"/>
                  </a:lnTo>
                  <a:lnTo>
                    <a:pt x="0" y="2132838"/>
                  </a:lnTo>
                  <a:lnTo>
                    <a:pt x="1624584" y="2132838"/>
                  </a:lnTo>
                  <a:lnTo>
                    <a:pt x="1624584" y="0"/>
                  </a:lnTo>
                  <a:close/>
                </a:path>
              </a:pathLst>
            </a:custGeom>
            <a:solidFill>
              <a:srgbClr val="E99213"/>
            </a:solidFill>
          </p:spPr>
        </p:sp>
      </p:grpSp>
      <p:grpSp>
        <p:nvGrpSpPr>
          <p:cNvPr name="Group 6" id="6"/>
          <p:cNvGrpSpPr/>
          <p:nvPr/>
        </p:nvGrpSpPr>
        <p:grpSpPr>
          <a:xfrm rot="0">
            <a:off x="17049631" y="-19169"/>
            <a:ext cx="1257538" cy="1638538"/>
            <a:chOff x="0" y="0"/>
            <a:chExt cx="1676718" cy="2184718"/>
          </a:xfrm>
        </p:grpSpPr>
        <p:sp>
          <p:nvSpPr>
            <p:cNvPr name="Freeform 7" id="7"/>
            <p:cNvSpPr/>
            <p:nvPr/>
          </p:nvSpPr>
          <p:spPr>
            <a:xfrm flipH="false" flipV="false" rot="0">
              <a:off x="0" y="0"/>
              <a:ext cx="1675638" cy="2183892"/>
            </a:xfrm>
            <a:custGeom>
              <a:avLst/>
              <a:gdLst/>
              <a:ahLst/>
              <a:cxnLst/>
              <a:rect r="r" b="b" t="t" l="l"/>
              <a:pathLst>
                <a:path h="2183892" w="1675638">
                  <a:moveTo>
                    <a:pt x="25527" y="0"/>
                  </a:moveTo>
                  <a:lnTo>
                    <a:pt x="1650111" y="0"/>
                  </a:lnTo>
                  <a:cubicBezTo>
                    <a:pt x="1664208" y="0"/>
                    <a:pt x="1675638" y="11430"/>
                    <a:pt x="1675638" y="25527"/>
                  </a:cubicBezTo>
                  <a:lnTo>
                    <a:pt x="1675638" y="2158365"/>
                  </a:lnTo>
                  <a:cubicBezTo>
                    <a:pt x="1675638" y="2172462"/>
                    <a:pt x="1664208" y="2183892"/>
                    <a:pt x="1650111" y="2183892"/>
                  </a:cubicBezTo>
                  <a:lnTo>
                    <a:pt x="25527" y="2183892"/>
                  </a:lnTo>
                  <a:cubicBezTo>
                    <a:pt x="11430" y="2183892"/>
                    <a:pt x="0" y="2172462"/>
                    <a:pt x="0" y="2158365"/>
                  </a:cubicBezTo>
                  <a:lnTo>
                    <a:pt x="0" y="25527"/>
                  </a:lnTo>
                  <a:cubicBezTo>
                    <a:pt x="0" y="11430"/>
                    <a:pt x="11430" y="0"/>
                    <a:pt x="25527" y="0"/>
                  </a:cubicBezTo>
                  <a:moveTo>
                    <a:pt x="25527" y="51181"/>
                  </a:moveTo>
                  <a:lnTo>
                    <a:pt x="25527" y="25527"/>
                  </a:lnTo>
                  <a:lnTo>
                    <a:pt x="51181" y="25527"/>
                  </a:lnTo>
                  <a:lnTo>
                    <a:pt x="51181" y="2158365"/>
                  </a:lnTo>
                  <a:lnTo>
                    <a:pt x="25527" y="2158365"/>
                  </a:lnTo>
                  <a:lnTo>
                    <a:pt x="25527" y="2132838"/>
                  </a:lnTo>
                  <a:lnTo>
                    <a:pt x="1650111" y="2132838"/>
                  </a:lnTo>
                  <a:lnTo>
                    <a:pt x="1650111" y="2158365"/>
                  </a:lnTo>
                  <a:lnTo>
                    <a:pt x="1624584" y="2158365"/>
                  </a:lnTo>
                  <a:lnTo>
                    <a:pt x="1624584" y="25527"/>
                  </a:lnTo>
                  <a:lnTo>
                    <a:pt x="1650111" y="25527"/>
                  </a:lnTo>
                  <a:lnTo>
                    <a:pt x="1650111" y="51181"/>
                  </a:lnTo>
                  <a:lnTo>
                    <a:pt x="25527" y="51181"/>
                  </a:lnTo>
                  <a:close/>
                </a:path>
              </a:pathLst>
            </a:custGeom>
            <a:solidFill>
              <a:srgbClr val="E99213"/>
            </a:solidFill>
          </p:spPr>
        </p:sp>
      </p:grpSp>
      <p:grpSp>
        <p:nvGrpSpPr>
          <p:cNvPr name="Group 8" id="8"/>
          <p:cNvGrpSpPr/>
          <p:nvPr/>
        </p:nvGrpSpPr>
        <p:grpSpPr>
          <a:xfrm rot="0">
            <a:off x="0" y="9944100"/>
            <a:ext cx="14325600" cy="142875"/>
            <a:chOff x="0" y="0"/>
            <a:chExt cx="19100800" cy="190500"/>
          </a:xfrm>
        </p:grpSpPr>
        <p:sp>
          <p:nvSpPr>
            <p:cNvPr name="Freeform 9" id="9"/>
            <p:cNvSpPr/>
            <p:nvPr/>
          </p:nvSpPr>
          <p:spPr>
            <a:xfrm flipH="false" flipV="false" rot="0">
              <a:off x="0" y="0"/>
              <a:ext cx="19100419" cy="189484"/>
            </a:xfrm>
            <a:custGeom>
              <a:avLst/>
              <a:gdLst/>
              <a:ahLst/>
              <a:cxnLst/>
              <a:rect r="r" b="b" t="t" l="l"/>
              <a:pathLst>
                <a:path h="189484" w="19100419">
                  <a:moveTo>
                    <a:pt x="19100419" y="0"/>
                  </a:moveTo>
                  <a:lnTo>
                    <a:pt x="0" y="0"/>
                  </a:lnTo>
                  <a:lnTo>
                    <a:pt x="0" y="189484"/>
                  </a:lnTo>
                  <a:lnTo>
                    <a:pt x="19100419" y="189484"/>
                  </a:lnTo>
                  <a:lnTo>
                    <a:pt x="19100419" y="0"/>
                  </a:lnTo>
                  <a:close/>
                </a:path>
              </a:pathLst>
            </a:custGeom>
            <a:solidFill>
              <a:srgbClr val="E99213"/>
            </a:solidFill>
          </p:spPr>
        </p:sp>
      </p:grpSp>
      <p:grpSp>
        <p:nvGrpSpPr>
          <p:cNvPr name="Group 10" id="10"/>
          <p:cNvGrpSpPr/>
          <p:nvPr/>
        </p:nvGrpSpPr>
        <p:grpSpPr>
          <a:xfrm rot="0">
            <a:off x="0" y="9715500"/>
            <a:ext cx="14325600" cy="142875"/>
            <a:chOff x="0" y="0"/>
            <a:chExt cx="19100800" cy="190500"/>
          </a:xfrm>
        </p:grpSpPr>
        <p:sp>
          <p:nvSpPr>
            <p:cNvPr name="Freeform 11" id="11"/>
            <p:cNvSpPr/>
            <p:nvPr/>
          </p:nvSpPr>
          <p:spPr>
            <a:xfrm flipH="false" flipV="false" rot="0">
              <a:off x="0" y="0"/>
              <a:ext cx="19100419" cy="189484"/>
            </a:xfrm>
            <a:custGeom>
              <a:avLst/>
              <a:gdLst/>
              <a:ahLst/>
              <a:cxnLst/>
              <a:rect r="r" b="b" t="t" l="l"/>
              <a:pathLst>
                <a:path h="189484" w="19100419">
                  <a:moveTo>
                    <a:pt x="19100419" y="0"/>
                  </a:moveTo>
                  <a:lnTo>
                    <a:pt x="0" y="0"/>
                  </a:lnTo>
                  <a:lnTo>
                    <a:pt x="0" y="189484"/>
                  </a:lnTo>
                  <a:lnTo>
                    <a:pt x="19100419" y="189484"/>
                  </a:lnTo>
                  <a:lnTo>
                    <a:pt x="19100419" y="0"/>
                  </a:lnTo>
                  <a:close/>
                </a:path>
              </a:pathLst>
            </a:custGeom>
            <a:solidFill>
              <a:srgbClr val="1D24AD"/>
            </a:solidFill>
          </p:spPr>
        </p:sp>
      </p:grpSp>
      <p:grpSp>
        <p:nvGrpSpPr>
          <p:cNvPr name="Group 12" id="12"/>
          <p:cNvGrpSpPr/>
          <p:nvPr/>
        </p:nvGrpSpPr>
        <p:grpSpPr>
          <a:xfrm rot="0">
            <a:off x="16459200" y="9944100"/>
            <a:ext cx="1828800" cy="114300"/>
            <a:chOff x="0" y="0"/>
            <a:chExt cx="2438400" cy="152400"/>
          </a:xfrm>
        </p:grpSpPr>
        <p:sp>
          <p:nvSpPr>
            <p:cNvPr name="Freeform 13" id="13"/>
            <p:cNvSpPr/>
            <p:nvPr/>
          </p:nvSpPr>
          <p:spPr>
            <a:xfrm flipH="false" flipV="false" rot="0">
              <a:off x="0" y="0"/>
              <a:ext cx="2437638" cy="151384"/>
            </a:xfrm>
            <a:custGeom>
              <a:avLst/>
              <a:gdLst/>
              <a:ahLst/>
              <a:cxnLst/>
              <a:rect r="r" b="b" t="t" l="l"/>
              <a:pathLst>
                <a:path h="151384" w="2437638">
                  <a:moveTo>
                    <a:pt x="2437638" y="0"/>
                  </a:moveTo>
                  <a:lnTo>
                    <a:pt x="0" y="0"/>
                  </a:lnTo>
                  <a:lnTo>
                    <a:pt x="0" y="151384"/>
                  </a:lnTo>
                  <a:lnTo>
                    <a:pt x="2437638" y="151384"/>
                  </a:lnTo>
                  <a:lnTo>
                    <a:pt x="2437638" y="0"/>
                  </a:lnTo>
                  <a:close/>
                </a:path>
              </a:pathLst>
            </a:custGeom>
            <a:solidFill>
              <a:srgbClr val="E99213"/>
            </a:solidFill>
          </p:spPr>
        </p:sp>
      </p:grpSp>
      <p:grpSp>
        <p:nvGrpSpPr>
          <p:cNvPr name="Group 14" id="14"/>
          <p:cNvGrpSpPr/>
          <p:nvPr/>
        </p:nvGrpSpPr>
        <p:grpSpPr>
          <a:xfrm rot="0">
            <a:off x="16459200" y="9715500"/>
            <a:ext cx="1828800" cy="114300"/>
            <a:chOff x="0" y="0"/>
            <a:chExt cx="2438400" cy="152400"/>
          </a:xfrm>
        </p:grpSpPr>
        <p:sp>
          <p:nvSpPr>
            <p:cNvPr name="Freeform 15" id="15"/>
            <p:cNvSpPr/>
            <p:nvPr/>
          </p:nvSpPr>
          <p:spPr>
            <a:xfrm flipH="false" flipV="false" rot="0">
              <a:off x="0" y="0"/>
              <a:ext cx="2437638" cy="151384"/>
            </a:xfrm>
            <a:custGeom>
              <a:avLst/>
              <a:gdLst/>
              <a:ahLst/>
              <a:cxnLst/>
              <a:rect r="r" b="b" t="t" l="l"/>
              <a:pathLst>
                <a:path h="151384" w="2437638">
                  <a:moveTo>
                    <a:pt x="2437638" y="0"/>
                  </a:moveTo>
                  <a:lnTo>
                    <a:pt x="0" y="0"/>
                  </a:lnTo>
                  <a:lnTo>
                    <a:pt x="0" y="151384"/>
                  </a:lnTo>
                  <a:lnTo>
                    <a:pt x="2437638" y="151384"/>
                  </a:lnTo>
                  <a:lnTo>
                    <a:pt x="2437638" y="0"/>
                  </a:lnTo>
                  <a:close/>
                </a:path>
              </a:pathLst>
            </a:custGeom>
            <a:solidFill>
              <a:srgbClr val="1D24AD"/>
            </a:solidFill>
          </p:spPr>
        </p:sp>
      </p:grpSp>
      <p:sp>
        <p:nvSpPr>
          <p:cNvPr name="TextBox 16" id="16"/>
          <p:cNvSpPr txBox="true"/>
          <p:nvPr/>
        </p:nvSpPr>
        <p:spPr>
          <a:xfrm rot="0">
            <a:off x="6974682" y="334171"/>
            <a:ext cx="4683918" cy="954087"/>
          </a:xfrm>
          <a:prstGeom prst="rect">
            <a:avLst/>
          </a:prstGeom>
        </p:spPr>
        <p:txBody>
          <a:bodyPr anchor="t" rtlCol="false" tIns="0" lIns="0" bIns="0" rIns="0">
            <a:spAutoFit/>
          </a:bodyPr>
          <a:lstStyle/>
          <a:p>
            <a:pPr algn="ctr">
              <a:lnSpc>
                <a:spcPts val="6480"/>
              </a:lnSpc>
            </a:pPr>
            <a:r>
              <a:rPr lang="en-US" b="true" sz="5400" spc="-7">
                <a:solidFill>
                  <a:srgbClr val="FFFFFF"/>
                </a:solidFill>
                <a:latin typeface="Times New Roman MT Bold"/>
                <a:ea typeface="Times New Roman MT Bold"/>
                <a:cs typeface="Times New Roman MT Bold"/>
                <a:sym typeface="Times New Roman MT Bold"/>
              </a:rPr>
              <a:t>Plan of Action</a:t>
            </a:r>
          </a:p>
        </p:txBody>
      </p:sp>
      <p:graphicFrame>
        <p:nvGraphicFramePr>
          <p:cNvPr name="Table 17" id="17"/>
          <p:cNvGraphicFramePr>
            <a:graphicFrameLocks noGrp="true"/>
          </p:cNvGraphicFramePr>
          <p:nvPr/>
        </p:nvGraphicFramePr>
        <p:xfrm>
          <a:off x="1371600" y="2743200"/>
          <a:ext cx="15354300" cy="5349690"/>
        </p:xfrm>
        <a:graphic>
          <a:graphicData uri="http://schemas.openxmlformats.org/drawingml/2006/table">
            <a:tbl>
              <a:tblPr/>
              <a:tblGrid>
                <a:gridCol w="3378593"/>
                <a:gridCol w="3724419"/>
                <a:gridCol w="2750429"/>
                <a:gridCol w="2750429"/>
                <a:gridCol w="2750429"/>
              </a:tblGrid>
              <a:tr h="1106213">
                <a:tc>
                  <a:txBody>
                    <a:bodyPr anchor="t" rtlCol="false"/>
                    <a:lstStyle/>
                    <a:p>
                      <a:pPr algn="l">
                        <a:lnSpc>
                          <a:spcPts val="1679"/>
                        </a:lnSpc>
                        <a:defRPr/>
                      </a:pPr>
                      <a:endParaRPr lang="en-US" sz="1100"/>
                    </a:p>
                  </a:txBody>
                  <a:tcPr marL="91440" marR="91440" marT="91440" marB="91440" anchor="ctr">
                    <a:lnL cmpd="sng" algn="ctr" cap="flat" w="6350">
                      <a:solidFill>
                        <a:srgbClr val="000000"/>
                      </a:solidFill>
                      <a:prstDash val="solid"/>
                      <a:round/>
                      <a:headEnd type="none" w="med" len="med"/>
                      <a:tailEnd type="none" w="med" len="med"/>
                    </a:lnL>
                    <a:lnR cmpd="sng" algn="ctr" cap="flat" w="6350">
                      <a:solidFill>
                        <a:srgbClr val="000000"/>
                      </a:solidFill>
                      <a:prstDash val="solid"/>
                      <a:round/>
                      <a:headEnd type="none" w="med" len="med"/>
                      <a:tailEnd type="none" w="med" len="med"/>
                    </a:lnR>
                    <a:lnT cmpd="sng" algn="ctr" cap="flat" w="6350">
                      <a:solidFill>
                        <a:srgbClr val="000000"/>
                      </a:solidFill>
                      <a:prstDash val="solid"/>
                      <a:round/>
                      <a:headEnd type="none" w="med" len="med"/>
                      <a:tailEnd type="none" w="med" len="med"/>
                    </a:lnT>
                    <a:lnB cmpd="sng" algn="ctr" cap="flat" w="6350">
                      <a:solidFill>
                        <a:srgbClr val="000000"/>
                      </a:solidFill>
                      <a:prstDash val="solid"/>
                      <a:round/>
                      <a:headEnd type="none" w="med" len="med"/>
                      <a:tailEnd type="none" w="med" len="med"/>
                    </a:lnB>
                    <a:solidFill>
                      <a:srgbClr val="E9EDF4"/>
                    </a:solidFill>
                  </a:tcPr>
                </a:tc>
                <a:tc>
                  <a:txBody>
                    <a:bodyPr anchor="t" rtlCol="false"/>
                    <a:lstStyle/>
                    <a:p>
                      <a:pPr algn="ctr">
                        <a:lnSpc>
                          <a:spcPts val="3240"/>
                        </a:lnSpc>
                        <a:defRPr/>
                      </a:pPr>
                      <a:r>
                        <a:rPr lang="en-US" sz="2700">
                          <a:solidFill>
                            <a:srgbClr val="FFFFFF"/>
                          </a:solidFill>
                          <a:latin typeface="Arial MT Pro"/>
                          <a:ea typeface="Arial MT Pro"/>
                          <a:cs typeface="Arial MT Pro"/>
                          <a:sym typeface="Arial MT Pro"/>
                        </a:rPr>
                        <a:t>JULY 2025</a:t>
                      </a:r>
                      <a:endParaRPr lang="en-US" sz="1100"/>
                    </a:p>
                  </a:txBody>
                  <a:tcPr marL="91440" marR="91440" marT="91440" marB="91440" anchor="ctr">
                    <a:lnL cmpd="sng" algn="ctr" cap="flat" w="6350">
                      <a:solidFill>
                        <a:srgbClr val="000000"/>
                      </a:solidFill>
                      <a:prstDash val="solid"/>
                      <a:round/>
                      <a:headEnd type="none" w="med" len="med"/>
                      <a:tailEnd type="none" w="med" len="med"/>
                    </a:lnL>
                    <a:lnR cmpd="sng" algn="ctr" cap="flat" w="6350">
                      <a:solidFill>
                        <a:srgbClr val="1F497D"/>
                      </a:solidFill>
                      <a:prstDash val="solid"/>
                      <a:round/>
                      <a:headEnd type="none" w="med" len="med"/>
                      <a:tailEnd type="none" w="med" len="med"/>
                    </a:lnR>
                    <a:lnT cmpd="sng" algn="ctr" cap="flat" w="6350">
                      <a:solidFill>
                        <a:srgbClr val="1F497D"/>
                      </a:solidFill>
                      <a:prstDash val="solid"/>
                      <a:round/>
                      <a:headEnd type="none" w="med" len="med"/>
                      <a:tailEnd type="none" w="med" len="med"/>
                    </a:lnT>
                    <a:lnB cmpd="sng" algn="ctr" cap="flat" w="6350">
                      <a:solidFill>
                        <a:srgbClr val="1F497D"/>
                      </a:solidFill>
                      <a:prstDash val="solid"/>
                      <a:round/>
                      <a:headEnd type="none" w="med" len="med"/>
                      <a:tailEnd type="none" w="med" len="med"/>
                    </a:lnB>
                    <a:solidFill>
                      <a:srgbClr val="1F497D"/>
                    </a:solidFill>
                  </a:tcPr>
                </a:tc>
                <a:tc>
                  <a:txBody>
                    <a:bodyPr anchor="t" rtlCol="false"/>
                    <a:lstStyle/>
                    <a:p>
                      <a:pPr algn="ctr">
                        <a:lnSpc>
                          <a:spcPts val="3240"/>
                        </a:lnSpc>
                        <a:defRPr/>
                      </a:pPr>
                      <a:r>
                        <a:rPr lang="en-US" sz="2700">
                          <a:solidFill>
                            <a:srgbClr val="FFFFFF"/>
                          </a:solidFill>
                          <a:latin typeface="Arial MT Pro"/>
                          <a:ea typeface="Arial MT Pro"/>
                          <a:cs typeface="Arial MT Pro"/>
                          <a:sym typeface="Arial MT Pro"/>
                        </a:rPr>
                        <a:t>AUGUST 2025</a:t>
                      </a:r>
                      <a:endParaRPr lang="en-US" sz="1100"/>
                    </a:p>
                  </a:txBody>
                  <a:tcPr marL="91440" marR="91440" marT="91440" marB="91440" anchor="ctr">
                    <a:lnL cmpd="sng" algn="ctr" cap="flat" w="6350">
                      <a:solidFill>
                        <a:srgbClr val="1F497D"/>
                      </a:solidFill>
                      <a:prstDash val="solid"/>
                      <a:round/>
                      <a:headEnd type="none" w="med" len="med"/>
                      <a:tailEnd type="none" w="med" len="med"/>
                    </a:lnL>
                    <a:lnR cmpd="sng" algn="ctr" cap="flat" w="6350">
                      <a:solidFill>
                        <a:srgbClr val="1F497D"/>
                      </a:solidFill>
                      <a:prstDash val="solid"/>
                      <a:round/>
                      <a:headEnd type="none" w="med" len="med"/>
                      <a:tailEnd type="none" w="med" len="med"/>
                    </a:lnR>
                    <a:lnT cmpd="sng" algn="ctr" cap="flat" w="6350">
                      <a:solidFill>
                        <a:srgbClr val="1F497D"/>
                      </a:solidFill>
                      <a:prstDash val="solid"/>
                      <a:round/>
                      <a:headEnd type="none" w="med" len="med"/>
                      <a:tailEnd type="none" w="med" len="med"/>
                    </a:lnT>
                    <a:lnB cmpd="sng" algn="ctr" cap="flat" w="6350">
                      <a:solidFill>
                        <a:srgbClr val="1F497D"/>
                      </a:solidFill>
                      <a:prstDash val="solid"/>
                      <a:round/>
                      <a:headEnd type="none" w="med" len="med"/>
                      <a:tailEnd type="none" w="med" len="med"/>
                    </a:lnB>
                    <a:solidFill>
                      <a:srgbClr val="1F497D"/>
                    </a:solidFill>
                  </a:tcPr>
                </a:tc>
                <a:tc>
                  <a:txBody>
                    <a:bodyPr anchor="t" rtlCol="false"/>
                    <a:lstStyle/>
                    <a:p>
                      <a:pPr algn="ctr">
                        <a:lnSpc>
                          <a:spcPts val="3240"/>
                        </a:lnSpc>
                        <a:defRPr/>
                      </a:pPr>
                      <a:r>
                        <a:rPr lang="en-US" sz="2700">
                          <a:solidFill>
                            <a:srgbClr val="FFFFFF"/>
                          </a:solidFill>
                          <a:latin typeface="Arial MT Pro"/>
                          <a:ea typeface="Arial MT Pro"/>
                          <a:cs typeface="Arial MT Pro"/>
                          <a:sym typeface="Arial MT Pro"/>
                        </a:rPr>
                        <a:t>SEPTEMBER 2025</a:t>
                      </a:r>
                      <a:endParaRPr lang="en-US" sz="1100"/>
                    </a:p>
                  </a:txBody>
                  <a:tcPr marL="91440" marR="91440" marT="91440" marB="91440" anchor="ctr">
                    <a:lnL cmpd="sng" algn="ctr" cap="flat" w="6350">
                      <a:solidFill>
                        <a:srgbClr val="1F497D"/>
                      </a:solidFill>
                      <a:prstDash val="solid"/>
                      <a:round/>
                      <a:headEnd type="none" w="med" len="med"/>
                      <a:tailEnd type="none" w="med" len="med"/>
                    </a:lnL>
                    <a:lnR cmpd="sng" algn="ctr" cap="flat" w="6350">
                      <a:solidFill>
                        <a:srgbClr val="1F497D"/>
                      </a:solidFill>
                      <a:prstDash val="solid"/>
                      <a:round/>
                      <a:headEnd type="none" w="med" len="med"/>
                      <a:tailEnd type="none" w="med" len="med"/>
                    </a:lnR>
                    <a:lnT cmpd="sng" algn="ctr" cap="flat" w="6350">
                      <a:solidFill>
                        <a:srgbClr val="1F497D"/>
                      </a:solidFill>
                      <a:prstDash val="solid"/>
                      <a:round/>
                      <a:headEnd type="none" w="med" len="med"/>
                      <a:tailEnd type="none" w="med" len="med"/>
                    </a:lnT>
                    <a:lnB cmpd="sng" algn="ctr" cap="flat" w="6350">
                      <a:solidFill>
                        <a:srgbClr val="1F497D"/>
                      </a:solidFill>
                      <a:prstDash val="solid"/>
                      <a:round/>
                      <a:headEnd type="none" w="med" len="med"/>
                      <a:tailEnd type="none" w="med" len="med"/>
                    </a:lnB>
                    <a:solidFill>
                      <a:srgbClr val="1F497D"/>
                    </a:solidFill>
                  </a:tcPr>
                </a:tc>
                <a:tc>
                  <a:txBody>
                    <a:bodyPr anchor="t" rtlCol="false"/>
                    <a:lstStyle/>
                    <a:p>
                      <a:pPr algn="ctr">
                        <a:lnSpc>
                          <a:spcPts val="3240"/>
                        </a:lnSpc>
                        <a:defRPr/>
                      </a:pPr>
                      <a:r>
                        <a:rPr lang="en-US" sz="2700">
                          <a:solidFill>
                            <a:srgbClr val="FFFFFF"/>
                          </a:solidFill>
                          <a:latin typeface="Arial MT Pro"/>
                          <a:ea typeface="Arial MT Pro"/>
                          <a:cs typeface="Arial MT Pro"/>
                          <a:sym typeface="Arial MT Pro"/>
                        </a:rPr>
                        <a:t>OCTOBER 2025</a:t>
                      </a:r>
                      <a:endParaRPr lang="en-US" sz="1100"/>
                    </a:p>
                  </a:txBody>
                  <a:tcPr marL="91440" marR="91440" marT="91440" marB="91440" anchor="ctr">
                    <a:lnL cmpd="sng" algn="ctr" cap="flat" w="6350">
                      <a:solidFill>
                        <a:srgbClr val="1F497D"/>
                      </a:solidFill>
                      <a:prstDash val="solid"/>
                      <a:round/>
                      <a:headEnd type="none" w="med" len="med"/>
                      <a:tailEnd type="none" w="med" len="med"/>
                    </a:lnL>
                    <a:lnR cmpd="sng" algn="ctr" cap="flat" w="6350">
                      <a:solidFill>
                        <a:srgbClr val="1F497D"/>
                      </a:solidFill>
                      <a:prstDash val="solid"/>
                      <a:round/>
                      <a:headEnd type="none" w="med" len="med"/>
                      <a:tailEnd type="none" w="med" len="med"/>
                    </a:lnR>
                    <a:lnT cmpd="sng" algn="ctr" cap="flat" w="6350">
                      <a:solidFill>
                        <a:srgbClr val="1F497D"/>
                      </a:solidFill>
                      <a:prstDash val="solid"/>
                      <a:round/>
                      <a:headEnd type="none" w="med" len="med"/>
                      <a:tailEnd type="none" w="med" len="med"/>
                    </a:lnT>
                    <a:lnB cmpd="sng" algn="ctr" cap="flat" w="6350">
                      <a:solidFill>
                        <a:srgbClr val="1F497D"/>
                      </a:solidFill>
                      <a:prstDash val="solid"/>
                      <a:round/>
                      <a:headEnd type="none" w="med" len="med"/>
                      <a:tailEnd type="none" w="med" len="med"/>
                    </a:lnB>
                    <a:solidFill>
                      <a:srgbClr val="1F497D"/>
                    </a:solidFill>
                  </a:tcPr>
                </a:tc>
              </a:tr>
              <a:tr h="696151">
                <a:tc>
                  <a:txBody>
                    <a:bodyPr anchor="t" rtlCol="false"/>
                    <a:lstStyle/>
                    <a:p>
                      <a:pPr algn="ctr">
                        <a:lnSpc>
                          <a:spcPts val="3240"/>
                        </a:lnSpc>
                        <a:defRPr/>
                      </a:pPr>
                      <a:r>
                        <a:rPr lang="en-US" sz="2700">
                          <a:solidFill>
                            <a:srgbClr val="FFFFFF"/>
                          </a:solidFill>
                          <a:latin typeface="Arial MT Pro"/>
                          <a:ea typeface="Arial MT Pro"/>
                          <a:cs typeface="Arial MT Pro"/>
                          <a:sym typeface="Arial MT Pro"/>
                        </a:rPr>
                        <a:t>TASK</a:t>
                      </a:r>
                      <a:endParaRPr lang="en-US" sz="1100"/>
                    </a:p>
                  </a:txBody>
                  <a:tcPr marL="91440" marR="91440" marT="91440" marB="91440" anchor="ctr">
                    <a:lnL cmpd="sng" algn="ctr" cap="flat" w="6350">
                      <a:solidFill>
                        <a:srgbClr val="1F497D"/>
                      </a:solidFill>
                      <a:prstDash val="solid"/>
                      <a:round/>
                      <a:headEnd type="none" w="med" len="med"/>
                      <a:tailEnd type="none" w="med" len="med"/>
                    </a:lnL>
                    <a:lnR cmpd="sng" algn="ctr" cap="flat" w="6350">
                      <a:solidFill>
                        <a:srgbClr val="1F497D"/>
                      </a:solidFill>
                      <a:prstDash val="solid"/>
                      <a:round/>
                      <a:headEnd type="none" w="med" len="med"/>
                      <a:tailEnd type="none" w="med" len="med"/>
                    </a:lnR>
                    <a:lnT cmpd="sng" algn="ctr" cap="flat" w="6350">
                      <a:solidFill>
                        <a:srgbClr val="000000"/>
                      </a:solidFill>
                      <a:prstDash val="solid"/>
                      <a:round/>
                      <a:headEnd type="none" w="med" len="med"/>
                      <a:tailEnd type="none" w="med" len="med"/>
                    </a:lnT>
                    <a:lnB cmpd="sng" algn="ctr" cap="flat" w="6350">
                      <a:solidFill>
                        <a:srgbClr val="1F497D"/>
                      </a:solidFill>
                      <a:prstDash val="solid"/>
                      <a:round/>
                      <a:headEnd type="none" w="med" len="med"/>
                      <a:tailEnd type="none" w="med" len="med"/>
                    </a:lnB>
                    <a:solidFill>
                      <a:srgbClr val="17375E"/>
                    </a:solidFill>
                  </a:tcPr>
                </a:tc>
                <a:tc>
                  <a:txBody>
                    <a:bodyPr anchor="t" rtlCol="false"/>
                    <a:lstStyle/>
                    <a:p>
                      <a:pPr algn="l">
                        <a:lnSpc>
                          <a:spcPts val="1679"/>
                        </a:lnSpc>
                        <a:defRPr/>
                      </a:pPr>
                      <a:endParaRPr lang="en-US" sz="1100"/>
                    </a:p>
                  </a:txBody>
                  <a:tcPr marL="91440" marR="91440" marT="91440" marB="91440" anchor="ctr">
                    <a:lnL cmpd="sng" algn="ctr" cap="flat" w="6350">
                      <a:solidFill>
                        <a:srgbClr val="1F497D"/>
                      </a:solidFill>
                      <a:prstDash val="solid"/>
                      <a:round/>
                      <a:headEnd type="none" w="med" len="med"/>
                      <a:tailEnd type="none" w="med" len="med"/>
                    </a:lnL>
                    <a:lnR cmpd="sng" algn="ctr" cap="flat" w="6350">
                      <a:solidFill>
                        <a:srgbClr val="1F497D"/>
                      </a:solidFill>
                      <a:prstDash val="solid"/>
                      <a:round/>
                      <a:headEnd type="none" w="med" len="med"/>
                      <a:tailEnd type="none" w="med" len="med"/>
                    </a:lnR>
                    <a:lnT cmpd="sng" algn="ctr" cap="flat" w="6350">
                      <a:solidFill>
                        <a:srgbClr val="1F497D"/>
                      </a:solidFill>
                      <a:prstDash val="solid"/>
                      <a:round/>
                      <a:headEnd type="none" w="med" len="med"/>
                      <a:tailEnd type="none" w="med" len="med"/>
                    </a:lnT>
                    <a:lnB cmpd="sng" algn="ctr" cap="flat" w="6350">
                      <a:solidFill>
                        <a:srgbClr val="1F497D"/>
                      </a:solidFill>
                      <a:prstDash val="solid"/>
                      <a:round/>
                      <a:headEnd type="none" w="med" len="med"/>
                      <a:tailEnd type="none" w="med" len="med"/>
                    </a:lnB>
                    <a:solidFill>
                      <a:srgbClr val="E9EDF4"/>
                    </a:solidFill>
                  </a:tcPr>
                </a:tc>
                <a:tc>
                  <a:txBody>
                    <a:bodyPr anchor="t" rtlCol="false"/>
                    <a:lstStyle/>
                    <a:p>
                      <a:pPr algn="l">
                        <a:lnSpc>
                          <a:spcPts val="1679"/>
                        </a:lnSpc>
                        <a:defRPr/>
                      </a:pPr>
                      <a:endParaRPr lang="en-US" sz="1100"/>
                    </a:p>
                  </a:txBody>
                  <a:tcPr marL="91440" marR="91440" marT="91440" marB="91440" anchor="ctr">
                    <a:lnL cmpd="sng" algn="ctr" cap="flat" w="6350">
                      <a:solidFill>
                        <a:srgbClr val="1F497D"/>
                      </a:solidFill>
                      <a:prstDash val="solid"/>
                      <a:round/>
                      <a:headEnd type="none" w="med" len="med"/>
                      <a:tailEnd type="none" w="med" len="med"/>
                    </a:lnL>
                    <a:lnR cmpd="sng" algn="ctr" cap="flat" w="6350">
                      <a:solidFill>
                        <a:srgbClr val="1F497D"/>
                      </a:solidFill>
                      <a:prstDash val="solid"/>
                      <a:round/>
                      <a:headEnd type="none" w="med" len="med"/>
                      <a:tailEnd type="none" w="med" len="med"/>
                    </a:lnR>
                    <a:lnT cmpd="sng" algn="ctr" cap="flat" w="6350">
                      <a:solidFill>
                        <a:srgbClr val="1F497D"/>
                      </a:solidFill>
                      <a:prstDash val="solid"/>
                      <a:round/>
                      <a:headEnd type="none" w="med" len="med"/>
                      <a:tailEnd type="none" w="med" len="med"/>
                    </a:lnT>
                    <a:lnB cmpd="sng" algn="ctr" cap="flat" w="6350">
                      <a:solidFill>
                        <a:srgbClr val="1F497D"/>
                      </a:solidFill>
                      <a:prstDash val="solid"/>
                      <a:round/>
                      <a:headEnd type="none" w="med" len="med"/>
                      <a:tailEnd type="none" w="med" len="med"/>
                    </a:lnB>
                    <a:solidFill>
                      <a:srgbClr val="E9EDF4"/>
                    </a:solidFill>
                  </a:tcPr>
                </a:tc>
                <a:tc>
                  <a:txBody>
                    <a:bodyPr anchor="t" rtlCol="false"/>
                    <a:lstStyle/>
                    <a:p>
                      <a:pPr algn="l">
                        <a:lnSpc>
                          <a:spcPts val="1679"/>
                        </a:lnSpc>
                        <a:defRPr/>
                      </a:pPr>
                      <a:endParaRPr lang="en-US" sz="1100"/>
                    </a:p>
                  </a:txBody>
                  <a:tcPr marL="91440" marR="91440" marT="91440" marB="91440" anchor="ctr">
                    <a:lnL cmpd="sng" algn="ctr" cap="flat" w="6350">
                      <a:solidFill>
                        <a:srgbClr val="1F497D"/>
                      </a:solidFill>
                      <a:prstDash val="solid"/>
                      <a:round/>
                      <a:headEnd type="none" w="med" len="med"/>
                      <a:tailEnd type="none" w="med" len="med"/>
                    </a:lnL>
                    <a:lnR cmpd="sng" algn="ctr" cap="flat" w="6350">
                      <a:solidFill>
                        <a:srgbClr val="1F497D"/>
                      </a:solidFill>
                      <a:prstDash val="solid"/>
                      <a:round/>
                      <a:headEnd type="none" w="med" len="med"/>
                      <a:tailEnd type="none" w="med" len="med"/>
                    </a:lnR>
                    <a:lnT cmpd="sng" algn="ctr" cap="flat" w="6350">
                      <a:solidFill>
                        <a:srgbClr val="1F497D"/>
                      </a:solidFill>
                      <a:prstDash val="solid"/>
                      <a:round/>
                      <a:headEnd type="none" w="med" len="med"/>
                      <a:tailEnd type="none" w="med" len="med"/>
                    </a:lnT>
                    <a:lnB cmpd="sng" algn="ctr" cap="flat" w="6350">
                      <a:solidFill>
                        <a:srgbClr val="1F497D"/>
                      </a:solidFill>
                      <a:prstDash val="solid"/>
                      <a:round/>
                      <a:headEnd type="none" w="med" len="med"/>
                      <a:tailEnd type="none" w="med" len="med"/>
                    </a:lnB>
                    <a:solidFill>
                      <a:srgbClr val="E9EDF4"/>
                    </a:solidFill>
                  </a:tcPr>
                </a:tc>
                <a:tc>
                  <a:txBody>
                    <a:bodyPr anchor="t" rtlCol="false"/>
                    <a:lstStyle/>
                    <a:p>
                      <a:pPr algn="l">
                        <a:lnSpc>
                          <a:spcPts val="1679"/>
                        </a:lnSpc>
                        <a:defRPr/>
                      </a:pPr>
                      <a:endParaRPr lang="en-US" sz="1100"/>
                    </a:p>
                  </a:txBody>
                  <a:tcPr marL="91440" marR="91440" marT="91440" marB="91440" anchor="ctr">
                    <a:lnL cmpd="sng" algn="ctr" cap="flat" w="6350">
                      <a:solidFill>
                        <a:srgbClr val="1F497D"/>
                      </a:solidFill>
                      <a:prstDash val="solid"/>
                      <a:round/>
                      <a:headEnd type="none" w="med" len="med"/>
                      <a:tailEnd type="none" w="med" len="med"/>
                    </a:lnL>
                    <a:lnR cmpd="sng" algn="ctr" cap="flat" w="6350">
                      <a:solidFill>
                        <a:srgbClr val="1F497D"/>
                      </a:solidFill>
                      <a:prstDash val="solid"/>
                      <a:round/>
                      <a:headEnd type="none" w="med" len="med"/>
                      <a:tailEnd type="none" w="med" len="med"/>
                    </a:lnR>
                    <a:lnT cmpd="sng" algn="ctr" cap="flat" w="6350">
                      <a:solidFill>
                        <a:srgbClr val="1F497D"/>
                      </a:solidFill>
                      <a:prstDash val="solid"/>
                      <a:round/>
                      <a:headEnd type="none" w="med" len="med"/>
                      <a:tailEnd type="none" w="med" len="med"/>
                    </a:lnT>
                    <a:lnB cmpd="sng" algn="ctr" cap="flat" w="6350">
                      <a:solidFill>
                        <a:srgbClr val="1F497D"/>
                      </a:solidFill>
                      <a:prstDash val="solid"/>
                      <a:round/>
                      <a:headEnd type="none" w="med" len="med"/>
                      <a:tailEnd type="none" w="med" len="med"/>
                    </a:lnB>
                    <a:solidFill>
                      <a:srgbClr val="E9EDF4"/>
                    </a:solidFill>
                  </a:tcPr>
                </a:tc>
              </a:tr>
              <a:tr h="720782">
                <a:tc>
                  <a:txBody>
                    <a:bodyPr anchor="t" rtlCol="false"/>
                    <a:lstStyle/>
                    <a:p>
                      <a:pPr algn="l">
                        <a:lnSpc>
                          <a:spcPts val="2799"/>
                        </a:lnSpc>
                        <a:defRPr/>
                      </a:pPr>
                      <a:r>
                        <a:rPr lang="en-US" sz="1999">
                          <a:solidFill>
                            <a:srgbClr val="000000"/>
                          </a:solidFill>
                          <a:latin typeface="Arimo"/>
                          <a:ea typeface="Arimo"/>
                          <a:cs typeface="Arimo"/>
                          <a:sym typeface="Arimo"/>
                        </a:rPr>
                        <a:t>Literature Survey</a:t>
                      </a:r>
                      <a:endParaRPr lang="en-US" sz="1100"/>
                    </a:p>
                  </a:txBody>
                  <a:tcPr marL="91440" marR="91440" marT="91440" marB="91440" anchor="ctr">
                    <a:lnL cmpd="sng" algn="ctr" cap="flat" w="6350">
                      <a:solidFill>
                        <a:srgbClr val="1F497D"/>
                      </a:solidFill>
                      <a:prstDash val="solid"/>
                      <a:round/>
                      <a:headEnd type="none" w="med" len="med"/>
                      <a:tailEnd type="none" w="med" len="med"/>
                    </a:lnL>
                    <a:lnR cmpd="sng" algn="ctr" cap="flat" w="6350">
                      <a:solidFill>
                        <a:srgbClr val="1F497D"/>
                      </a:solidFill>
                      <a:prstDash val="solid"/>
                      <a:round/>
                      <a:headEnd type="none" w="med" len="med"/>
                      <a:tailEnd type="none" w="med" len="med"/>
                    </a:lnR>
                    <a:lnT cmpd="sng" algn="ctr" cap="flat" w="6350">
                      <a:solidFill>
                        <a:srgbClr val="1F497D"/>
                      </a:solidFill>
                      <a:prstDash val="solid"/>
                      <a:round/>
                      <a:headEnd type="none" w="med" len="med"/>
                      <a:tailEnd type="none" w="med" len="med"/>
                    </a:lnT>
                    <a:lnB cmpd="sng" algn="ctr" cap="flat" w="6350">
                      <a:solidFill>
                        <a:srgbClr val="1F497D"/>
                      </a:solidFill>
                      <a:prstDash val="solid"/>
                      <a:round/>
                      <a:headEnd type="none" w="med" len="med"/>
                      <a:tailEnd type="none" w="med" len="med"/>
                    </a:lnB>
                    <a:solidFill>
                      <a:srgbClr val="8EB4E3"/>
                    </a:solidFill>
                  </a:tcPr>
                </a:tc>
                <a:tc>
                  <a:txBody>
                    <a:bodyPr anchor="t" rtlCol="false"/>
                    <a:lstStyle/>
                    <a:p>
                      <a:pPr algn="l">
                        <a:lnSpc>
                          <a:spcPts val="1679"/>
                        </a:lnSpc>
                        <a:defRPr/>
                      </a:pPr>
                      <a:endParaRPr lang="en-US" sz="1100"/>
                    </a:p>
                  </a:txBody>
                  <a:tcPr marL="91440" marR="91440" marT="91440" marB="91440" anchor="ctr">
                    <a:lnL cmpd="sng" algn="ctr" cap="flat" w="6350">
                      <a:solidFill>
                        <a:srgbClr val="1F497D"/>
                      </a:solidFill>
                      <a:prstDash val="solid"/>
                      <a:round/>
                      <a:headEnd type="none" w="med" len="med"/>
                      <a:tailEnd type="none" w="med" len="med"/>
                    </a:lnL>
                    <a:lnR cmpd="sng" algn="ctr" cap="flat" w="6350">
                      <a:solidFill>
                        <a:srgbClr val="1F497D"/>
                      </a:solidFill>
                      <a:prstDash val="solid"/>
                      <a:round/>
                      <a:headEnd type="none" w="med" len="med"/>
                      <a:tailEnd type="none" w="med" len="med"/>
                    </a:lnR>
                    <a:lnT cmpd="sng" algn="ctr" cap="flat" w="6350">
                      <a:solidFill>
                        <a:srgbClr val="1F497D"/>
                      </a:solidFill>
                      <a:prstDash val="solid"/>
                      <a:round/>
                      <a:headEnd type="none" w="med" len="med"/>
                      <a:tailEnd type="none" w="med" len="med"/>
                    </a:lnT>
                    <a:lnB cmpd="sng" algn="ctr" cap="flat" w="6350">
                      <a:solidFill>
                        <a:srgbClr val="1F497D"/>
                      </a:solidFill>
                      <a:prstDash val="solid"/>
                      <a:round/>
                      <a:headEnd type="none" w="med" len="med"/>
                      <a:tailEnd type="none" w="med" len="med"/>
                    </a:lnB>
                    <a:solidFill>
                      <a:srgbClr val="E9EDF4"/>
                    </a:solidFill>
                  </a:tcPr>
                </a:tc>
                <a:tc>
                  <a:txBody>
                    <a:bodyPr anchor="t" rtlCol="false"/>
                    <a:lstStyle/>
                    <a:p>
                      <a:pPr algn="l">
                        <a:lnSpc>
                          <a:spcPts val="1679"/>
                        </a:lnSpc>
                        <a:defRPr/>
                      </a:pPr>
                      <a:endParaRPr lang="en-US" sz="1100"/>
                    </a:p>
                  </a:txBody>
                  <a:tcPr marL="91440" marR="91440" marT="91440" marB="91440" anchor="ctr">
                    <a:lnL cmpd="sng" algn="ctr" cap="flat" w="6350">
                      <a:solidFill>
                        <a:srgbClr val="1F497D"/>
                      </a:solidFill>
                      <a:prstDash val="solid"/>
                      <a:round/>
                      <a:headEnd type="none" w="med" len="med"/>
                      <a:tailEnd type="none" w="med" len="med"/>
                    </a:lnL>
                    <a:lnR cmpd="sng" algn="ctr" cap="flat" w="6350">
                      <a:solidFill>
                        <a:srgbClr val="1F497D"/>
                      </a:solidFill>
                      <a:prstDash val="solid"/>
                      <a:round/>
                      <a:headEnd type="none" w="med" len="med"/>
                      <a:tailEnd type="none" w="med" len="med"/>
                    </a:lnR>
                    <a:lnT cmpd="sng" algn="ctr" cap="flat" w="6350">
                      <a:solidFill>
                        <a:srgbClr val="1F497D"/>
                      </a:solidFill>
                      <a:prstDash val="solid"/>
                      <a:round/>
                      <a:headEnd type="none" w="med" len="med"/>
                      <a:tailEnd type="none" w="med" len="med"/>
                    </a:lnT>
                    <a:lnB cmpd="sng" algn="ctr" cap="flat" w="6350">
                      <a:solidFill>
                        <a:srgbClr val="1F497D"/>
                      </a:solidFill>
                      <a:prstDash val="solid"/>
                      <a:round/>
                      <a:headEnd type="none" w="med" len="med"/>
                      <a:tailEnd type="none" w="med" len="med"/>
                    </a:lnB>
                    <a:solidFill>
                      <a:srgbClr val="E9EDF4"/>
                    </a:solidFill>
                  </a:tcPr>
                </a:tc>
                <a:tc>
                  <a:txBody>
                    <a:bodyPr anchor="t" rtlCol="false"/>
                    <a:lstStyle/>
                    <a:p>
                      <a:pPr algn="l">
                        <a:lnSpc>
                          <a:spcPts val="1679"/>
                        </a:lnSpc>
                        <a:defRPr/>
                      </a:pPr>
                      <a:endParaRPr lang="en-US" sz="1100"/>
                    </a:p>
                  </a:txBody>
                  <a:tcPr marL="91440" marR="91440" marT="91440" marB="91440" anchor="ctr">
                    <a:lnL cmpd="sng" algn="ctr" cap="flat" w="6350">
                      <a:solidFill>
                        <a:srgbClr val="1F497D"/>
                      </a:solidFill>
                      <a:prstDash val="solid"/>
                      <a:round/>
                      <a:headEnd type="none" w="med" len="med"/>
                      <a:tailEnd type="none" w="med" len="med"/>
                    </a:lnL>
                    <a:lnR cmpd="sng" algn="ctr" cap="flat" w="6350">
                      <a:solidFill>
                        <a:srgbClr val="1F497D"/>
                      </a:solidFill>
                      <a:prstDash val="solid"/>
                      <a:round/>
                      <a:headEnd type="none" w="med" len="med"/>
                      <a:tailEnd type="none" w="med" len="med"/>
                    </a:lnR>
                    <a:lnT cmpd="sng" algn="ctr" cap="flat" w="6350">
                      <a:solidFill>
                        <a:srgbClr val="1F497D"/>
                      </a:solidFill>
                      <a:prstDash val="solid"/>
                      <a:round/>
                      <a:headEnd type="none" w="med" len="med"/>
                      <a:tailEnd type="none" w="med" len="med"/>
                    </a:lnT>
                    <a:lnB cmpd="sng" algn="ctr" cap="flat" w="6350">
                      <a:solidFill>
                        <a:srgbClr val="1F497D"/>
                      </a:solidFill>
                      <a:prstDash val="solid"/>
                      <a:round/>
                      <a:headEnd type="none" w="med" len="med"/>
                      <a:tailEnd type="none" w="med" len="med"/>
                    </a:lnB>
                    <a:solidFill>
                      <a:srgbClr val="E9EDF4"/>
                    </a:solidFill>
                  </a:tcPr>
                </a:tc>
                <a:tc>
                  <a:txBody>
                    <a:bodyPr anchor="t" rtlCol="false"/>
                    <a:lstStyle/>
                    <a:p>
                      <a:pPr algn="l">
                        <a:lnSpc>
                          <a:spcPts val="1679"/>
                        </a:lnSpc>
                        <a:defRPr/>
                      </a:pPr>
                      <a:endParaRPr lang="en-US" sz="1100"/>
                    </a:p>
                  </a:txBody>
                  <a:tcPr marL="91440" marR="91440" marT="91440" marB="91440" anchor="ctr">
                    <a:lnL cmpd="sng" algn="ctr" cap="flat" w="6350">
                      <a:solidFill>
                        <a:srgbClr val="1F497D"/>
                      </a:solidFill>
                      <a:prstDash val="solid"/>
                      <a:round/>
                      <a:headEnd type="none" w="med" len="med"/>
                      <a:tailEnd type="none" w="med" len="med"/>
                    </a:lnL>
                    <a:lnR cmpd="sng" algn="ctr" cap="flat" w="6350">
                      <a:solidFill>
                        <a:srgbClr val="1F497D"/>
                      </a:solidFill>
                      <a:prstDash val="solid"/>
                      <a:round/>
                      <a:headEnd type="none" w="med" len="med"/>
                      <a:tailEnd type="none" w="med" len="med"/>
                    </a:lnR>
                    <a:lnT cmpd="sng" algn="ctr" cap="flat" w="6350">
                      <a:solidFill>
                        <a:srgbClr val="1F497D"/>
                      </a:solidFill>
                      <a:prstDash val="solid"/>
                      <a:round/>
                      <a:headEnd type="none" w="med" len="med"/>
                      <a:tailEnd type="none" w="med" len="med"/>
                    </a:lnT>
                    <a:lnB cmpd="sng" algn="ctr" cap="flat" w="6350">
                      <a:solidFill>
                        <a:srgbClr val="1F497D"/>
                      </a:solidFill>
                      <a:prstDash val="solid"/>
                      <a:round/>
                      <a:headEnd type="none" w="med" len="med"/>
                      <a:tailEnd type="none" w="med" len="med"/>
                    </a:lnB>
                    <a:solidFill>
                      <a:srgbClr val="E9EDF4"/>
                    </a:solidFill>
                  </a:tcPr>
                </a:tc>
              </a:tr>
              <a:tr h="704779">
                <a:tc>
                  <a:txBody>
                    <a:bodyPr anchor="t" rtlCol="false"/>
                    <a:lstStyle/>
                    <a:p>
                      <a:pPr algn="l">
                        <a:lnSpc>
                          <a:spcPts val="2799"/>
                        </a:lnSpc>
                        <a:defRPr/>
                      </a:pPr>
                      <a:r>
                        <a:rPr lang="en-US" sz="1999">
                          <a:solidFill>
                            <a:srgbClr val="000000"/>
                          </a:solidFill>
                          <a:latin typeface="Arimo"/>
                          <a:ea typeface="Arimo"/>
                          <a:cs typeface="Arimo"/>
                          <a:sym typeface="Arimo"/>
                        </a:rPr>
                        <a:t>Design</a:t>
                      </a:r>
                      <a:endParaRPr lang="en-US" sz="1100"/>
                    </a:p>
                  </a:txBody>
                  <a:tcPr marL="91440" marR="91440" marT="91440" marB="91440" anchor="ctr">
                    <a:lnL cmpd="sng" algn="ctr" cap="flat" w="6350">
                      <a:solidFill>
                        <a:srgbClr val="1F497D"/>
                      </a:solidFill>
                      <a:prstDash val="solid"/>
                      <a:round/>
                      <a:headEnd type="none" w="med" len="med"/>
                      <a:tailEnd type="none" w="med" len="med"/>
                    </a:lnL>
                    <a:lnR cmpd="sng" algn="ctr" cap="flat" w="6350">
                      <a:solidFill>
                        <a:srgbClr val="1F497D"/>
                      </a:solidFill>
                      <a:prstDash val="solid"/>
                      <a:round/>
                      <a:headEnd type="none" w="med" len="med"/>
                      <a:tailEnd type="none" w="med" len="med"/>
                    </a:lnR>
                    <a:lnT cmpd="sng" algn="ctr" cap="flat" w="6350">
                      <a:solidFill>
                        <a:srgbClr val="1F497D"/>
                      </a:solidFill>
                      <a:prstDash val="solid"/>
                      <a:round/>
                      <a:headEnd type="none" w="med" len="med"/>
                      <a:tailEnd type="none" w="med" len="med"/>
                    </a:lnT>
                    <a:lnB cmpd="sng" algn="ctr" cap="flat" w="6350">
                      <a:solidFill>
                        <a:srgbClr val="1F497D"/>
                      </a:solidFill>
                      <a:prstDash val="solid"/>
                      <a:round/>
                      <a:headEnd type="none" w="med" len="med"/>
                      <a:tailEnd type="none" w="med" len="med"/>
                    </a:lnB>
                    <a:solidFill>
                      <a:srgbClr val="558ED5"/>
                    </a:solidFill>
                  </a:tcPr>
                </a:tc>
                <a:tc>
                  <a:txBody>
                    <a:bodyPr anchor="t" rtlCol="false"/>
                    <a:lstStyle/>
                    <a:p>
                      <a:pPr algn="l">
                        <a:lnSpc>
                          <a:spcPts val="1679"/>
                        </a:lnSpc>
                        <a:defRPr/>
                      </a:pPr>
                      <a:endParaRPr lang="en-US" sz="1100"/>
                    </a:p>
                  </a:txBody>
                  <a:tcPr marL="91440" marR="91440" marT="91440" marB="91440" anchor="ctr">
                    <a:lnL cmpd="sng" algn="ctr" cap="flat" w="6350">
                      <a:solidFill>
                        <a:srgbClr val="1F497D"/>
                      </a:solidFill>
                      <a:prstDash val="solid"/>
                      <a:round/>
                      <a:headEnd type="none" w="med" len="med"/>
                      <a:tailEnd type="none" w="med" len="med"/>
                    </a:lnL>
                    <a:lnR cmpd="sng" algn="ctr" cap="flat" w="6350">
                      <a:solidFill>
                        <a:srgbClr val="1F497D"/>
                      </a:solidFill>
                      <a:prstDash val="solid"/>
                      <a:round/>
                      <a:headEnd type="none" w="med" len="med"/>
                      <a:tailEnd type="none" w="med" len="med"/>
                    </a:lnR>
                    <a:lnT cmpd="sng" algn="ctr" cap="flat" w="6350">
                      <a:solidFill>
                        <a:srgbClr val="1F497D"/>
                      </a:solidFill>
                      <a:prstDash val="solid"/>
                      <a:round/>
                      <a:headEnd type="none" w="med" len="med"/>
                      <a:tailEnd type="none" w="med" len="med"/>
                    </a:lnT>
                    <a:lnB cmpd="sng" algn="ctr" cap="flat" w="6350">
                      <a:solidFill>
                        <a:srgbClr val="1F497D"/>
                      </a:solidFill>
                      <a:prstDash val="solid"/>
                      <a:round/>
                      <a:headEnd type="none" w="med" len="med"/>
                      <a:tailEnd type="none" w="med" len="med"/>
                    </a:lnB>
                    <a:solidFill>
                      <a:srgbClr val="E9EDF4"/>
                    </a:solidFill>
                  </a:tcPr>
                </a:tc>
                <a:tc>
                  <a:txBody>
                    <a:bodyPr anchor="t" rtlCol="false"/>
                    <a:lstStyle/>
                    <a:p>
                      <a:pPr algn="l">
                        <a:lnSpc>
                          <a:spcPts val="1679"/>
                        </a:lnSpc>
                        <a:defRPr/>
                      </a:pPr>
                      <a:endParaRPr lang="en-US" sz="1100"/>
                    </a:p>
                  </a:txBody>
                  <a:tcPr marL="91440" marR="91440" marT="91440" marB="91440" anchor="ctr">
                    <a:lnL cmpd="sng" algn="ctr" cap="flat" w="6350">
                      <a:solidFill>
                        <a:srgbClr val="1F497D"/>
                      </a:solidFill>
                      <a:prstDash val="solid"/>
                      <a:round/>
                      <a:headEnd type="none" w="med" len="med"/>
                      <a:tailEnd type="none" w="med" len="med"/>
                    </a:lnL>
                    <a:lnR cmpd="sng" algn="ctr" cap="flat" w="6350">
                      <a:solidFill>
                        <a:srgbClr val="1F497D"/>
                      </a:solidFill>
                      <a:prstDash val="solid"/>
                      <a:round/>
                      <a:headEnd type="none" w="med" len="med"/>
                      <a:tailEnd type="none" w="med" len="med"/>
                    </a:lnR>
                    <a:lnT cmpd="sng" algn="ctr" cap="flat" w="6350">
                      <a:solidFill>
                        <a:srgbClr val="1F497D"/>
                      </a:solidFill>
                      <a:prstDash val="solid"/>
                      <a:round/>
                      <a:headEnd type="none" w="med" len="med"/>
                      <a:tailEnd type="none" w="med" len="med"/>
                    </a:lnT>
                    <a:lnB cmpd="sng" algn="ctr" cap="flat" w="6350">
                      <a:solidFill>
                        <a:srgbClr val="1F497D"/>
                      </a:solidFill>
                      <a:prstDash val="solid"/>
                      <a:round/>
                      <a:headEnd type="none" w="med" len="med"/>
                      <a:tailEnd type="none" w="med" len="med"/>
                    </a:lnB>
                    <a:solidFill>
                      <a:srgbClr val="E9EDF4"/>
                    </a:solidFill>
                  </a:tcPr>
                </a:tc>
                <a:tc>
                  <a:txBody>
                    <a:bodyPr anchor="t" rtlCol="false"/>
                    <a:lstStyle/>
                    <a:p>
                      <a:pPr algn="l">
                        <a:lnSpc>
                          <a:spcPts val="1679"/>
                        </a:lnSpc>
                        <a:defRPr/>
                      </a:pPr>
                      <a:endParaRPr lang="en-US" sz="1100"/>
                    </a:p>
                  </a:txBody>
                  <a:tcPr marL="91440" marR="91440" marT="91440" marB="91440" anchor="ctr">
                    <a:lnL cmpd="sng" algn="ctr" cap="flat" w="6350">
                      <a:solidFill>
                        <a:srgbClr val="1F497D"/>
                      </a:solidFill>
                      <a:prstDash val="solid"/>
                      <a:round/>
                      <a:headEnd type="none" w="med" len="med"/>
                      <a:tailEnd type="none" w="med" len="med"/>
                    </a:lnL>
                    <a:lnR cmpd="sng" algn="ctr" cap="flat" w="6350">
                      <a:solidFill>
                        <a:srgbClr val="1F497D"/>
                      </a:solidFill>
                      <a:prstDash val="solid"/>
                      <a:round/>
                      <a:headEnd type="none" w="med" len="med"/>
                      <a:tailEnd type="none" w="med" len="med"/>
                    </a:lnR>
                    <a:lnT cmpd="sng" algn="ctr" cap="flat" w="6350">
                      <a:solidFill>
                        <a:srgbClr val="1F497D"/>
                      </a:solidFill>
                      <a:prstDash val="solid"/>
                      <a:round/>
                      <a:headEnd type="none" w="med" len="med"/>
                      <a:tailEnd type="none" w="med" len="med"/>
                    </a:lnT>
                    <a:lnB cmpd="sng" algn="ctr" cap="flat" w="6350">
                      <a:solidFill>
                        <a:srgbClr val="1F497D"/>
                      </a:solidFill>
                      <a:prstDash val="solid"/>
                      <a:round/>
                      <a:headEnd type="none" w="med" len="med"/>
                      <a:tailEnd type="none" w="med" len="med"/>
                    </a:lnB>
                    <a:solidFill>
                      <a:srgbClr val="E9EDF4"/>
                    </a:solidFill>
                  </a:tcPr>
                </a:tc>
                <a:tc>
                  <a:txBody>
                    <a:bodyPr anchor="t" rtlCol="false"/>
                    <a:lstStyle/>
                    <a:p>
                      <a:pPr algn="l">
                        <a:lnSpc>
                          <a:spcPts val="1679"/>
                        </a:lnSpc>
                        <a:defRPr/>
                      </a:pPr>
                      <a:endParaRPr lang="en-US" sz="1100"/>
                    </a:p>
                  </a:txBody>
                  <a:tcPr marL="91440" marR="91440" marT="91440" marB="91440" anchor="ctr">
                    <a:lnL cmpd="sng" algn="ctr" cap="flat" w="6350">
                      <a:solidFill>
                        <a:srgbClr val="1F497D"/>
                      </a:solidFill>
                      <a:prstDash val="solid"/>
                      <a:round/>
                      <a:headEnd type="none" w="med" len="med"/>
                      <a:tailEnd type="none" w="med" len="med"/>
                    </a:lnL>
                    <a:lnR cmpd="sng" algn="ctr" cap="flat" w="6350">
                      <a:solidFill>
                        <a:srgbClr val="1F497D"/>
                      </a:solidFill>
                      <a:prstDash val="solid"/>
                      <a:round/>
                      <a:headEnd type="none" w="med" len="med"/>
                      <a:tailEnd type="none" w="med" len="med"/>
                    </a:lnR>
                    <a:lnT cmpd="sng" algn="ctr" cap="flat" w="6350">
                      <a:solidFill>
                        <a:srgbClr val="1F497D"/>
                      </a:solidFill>
                      <a:prstDash val="solid"/>
                      <a:round/>
                      <a:headEnd type="none" w="med" len="med"/>
                      <a:tailEnd type="none" w="med" len="med"/>
                    </a:lnT>
                    <a:lnB cmpd="sng" algn="ctr" cap="flat" w="6350">
                      <a:solidFill>
                        <a:srgbClr val="1F497D"/>
                      </a:solidFill>
                      <a:prstDash val="solid"/>
                      <a:round/>
                      <a:headEnd type="none" w="med" len="med"/>
                      <a:tailEnd type="none" w="med" len="med"/>
                    </a:lnB>
                    <a:solidFill>
                      <a:srgbClr val="E9EDF4"/>
                    </a:solidFill>
                  </a:tcPr>
                </a:tc>
              </a:tr>
              <a:tr h="747821">
                <a:tc>
                  <a:txBody>
                    <a:bodyPr anchor="t" rtlCol="false"/>
                    <a:lstStyle/>
                    <a:p>
                      <a:pPr algn="l">
                        <a:lnSpc>
                          <a:spcPts val="2799"/>
                        </a:lnSpc>
                        <a:defRPr/>
                      </a:pPr>
                      <a:r>
                        <a:rPr lang="en-US" sz="1999">
                          <a:solidFill>
                            <a:srgbClr val="000000"/>
                          </a:solidFill>
                          <a:latin typeface="Arimo"/>
                          <a:ea typeface="Arimo"/>
                          <a:cs typeface="Arimo"/>
                          <a:sym typeface="Arimo"/>
                        </a:rPr>
                        <a:t>Simulation </a:t>
                      </a:r>
                      <a:endParaRPr lang="en-US" sz="1100"/>
                    </a:p>
                  </a:txBody>
                  <a:tcPr marL="91440" marR="91440" marT="91440" marB="91440" anchor="ctr">
                    <a:lnL cmpd="sng" algn="ctr" cap="flat" w="6350">
                      <a:solidFill>
                        <a:srgbClr val="1F497D"/>
                      </a:solidFill>
                      <a:prstDash val="solid"/>
                      <a:round/>
                      <a:headEnd type="none" w="med" len="med"/>
                      <a:tailEnd type="none" w="med" len="med"/>
                    </a:lnL>
                    <a:lnR cmpd="sng" algn="ctr" cap="flat" w="6350">
                      <a:solidFill>
                        <a:srgbClr val="1F497D"/>
                      </a:solidFill>
                      <a:prstDash val="solid"/>
                      <a:round/>
                      <a:headEnd type="none" w="med" len="med"/>
                      <a:tailEnd type="none" w="med" len="med"/>
                    </a:lnR>
                    <a:lnT cmpd="sng" algn="ctr" cap="flat" w="6350">
                      <a:solidFill>
                        <a:srgbClr val="1F497D"/>
                      </a:solidFill>
                      <a:prstDash val="solid"/>
                      <a:round/>
                      <a:headEnd type="none" w="med" len="med"/>
                      <a:tailEnd type="none" w="med" len="med"/>
                    </a:lnT>
                    <a:lnB cmpd="sng" algn="ctr" cap="flat" w="6350">
                      <a:solidFill>
                        <a:srgbClr val="1F497D"/>
                      </a:solidFill>
                      <a:prstDash val="solid"/>
                      <a:round/>
                      <a:headEnd type="none" w="med" len="med"/>
                      <a:tailEnd type="none" w="med" len="med"/>
                    </a:lnB>
                    <a:solidFill>
                      <a:srgbClr val="4274B0"/>
                    </a:solidFill>
                  </a:tcPr>
                </a:tc>
                <a:tc>
                  <a:txBody>
                    <a:bodyPr anchor="t" rtlCol="false"/>
                    <a:lstStyle/>
                    <a:p>
                      <a:pPr algn="l">
                        <a:lnSpc>
                          <a:spcPts val="1679"/>
                        </a:lnSpc>
                        <a:defRPr/>
                      </a:pPr>
                      <a:endParaRPr lang="en-US" sz="1100"/>
                    </a:p>
                  </a:txBody>
                  <a:tcPr marL="91440" marR="91440" marT="91440" marB="91440" anchor="ctr">
                    <a:lnL cmpd="sng" algn="ctr" cap="flat" w="6350">
                      <a:solidFill>
                        <a:srgbClr val="1F497D"/>
                      </a:solidFill>
                      <a:prstDash val="solid"/>
                      <a:round/>
                      <a:headEnd type="none" w="med" len="med"/>
                      <a:tailEnd type="none" w="med" len="med"/>
                    </a:lnL>
                    <a:lnR cmpd="sng" algn="ctr" cap="flat" w="6350">
                      <a:solidFill>
                        <a:srgbClr val="1F497D"/>
                      </a:solidFill>
                      <a:prstDash val="solid"/>
                      <a:round/>
                      <a:headEnd type="none" w="med" len="med"/>
                      <a:tailEnd type="none" w="med" len="med"/>
                    </a:lnR>
                    <a:lnT cmpd="sng" algn="ctr" cap="flat" w="6350">
                      <a:solidFill>
                        <a:srgbClr val="1F497D"/>
                      </a:solidFill>
                      <a:prstDash val="solid"/>
                      <a:round/>
                      <a:headEnd type="none" w="med" len="med"/>
                      <a:tailEnd type="none" w="med" len="med"/>
                    </a:lnT>
                    <a:lnB cmpd="sng" algn="ctr" cap="flat" w="6350">
                      <a:solidFill>
                        <a:srgbClr val="1F497D"/>
                      </a:solidFill>
                      <a:prstDash val="solid"/>
                      <a:round/>
                      <a:headEnd type="none" w="med" len="med"/>
                      <a:tailEnd type="none" w="med" len="med"/>
                    </a:lnB>
                    <a:solidFill>
                      <a:srgbClr val="E9EDF4"/>
                    </a:solidFill>
                  </a:tcPr>
                </a:tc>
                <a:tc>
                  <a:txBody>
                    <a:bodyPr anchor="t" rtlCol="false"/>
                    <a:lstStyle/>
                    <a:p>
                      <a:pPr algn="l">
                        <a:lnSpc>
                          <a:spcPts val="1679"/>
                        </a:lnSpc>
                        <a:defRPr/>
                      </a:pPr>
                      <a:endParaRPr lang="en-US" sz="1100"/>
                    </a:p>
                  </a:txBody>
                  <a:tcPr marL="91440" marR="91440" marT="91440" marB="91440" anchor="ctr">
                    <a:lnL cmpd="sng" algn="ctr" cap="flat" w="6350">
                      <a:solidFill>
                        <a:srgbClr val="1F497D"/>
                      </a:solidFill>
                      <a:prstDash val="solid"/>
                      <a:round/>
                      <a:headEnd type="none" w="med" len="med"/>
                      <a:tailEnd type="none" w="med" len="med"/>
                    </a:lnL>
                    <a:lnR cmpd="sng" algn="ctr" cap="flat" w="6350">
                      <a:solidFill>
                        <a:srgbClr val="1F497D"/>
                      </a:solidFill>
                      <a:prstDash val="solid"/>
                      <a:round/>
                      <a:headEnd type="none" w="med" len="med"/>
                      <a:tailEnd type="none" w="med" len="med"/>
                    </a:lnR>
                    <a:lnT cmpd="sng" algn="ctr" cap="flat" w="6350">
                      <a:solidFill>
                        <a:srgbClr val="1F497D"/>
                      </a:solidFill>
                      <a:prstDash val="solid"/>
                      <a:round/>
                      <a:headEnd type="none" w="med" len="med"/>
                      <a:tailEnd type="none" w="med" len="med"/>
                    </a:lnT>
                    <a:lnB cmpd="sng" algn="ctr" cap="flat" w="6350">
                      <a:solidFill>
                        <a:srgbClr val="1F497D"/>
                      </a:solidFill>
                      <a:prstDash val="solid"/>
                      <a:round/>
                      <a:headEnd type="none" w="med" len="med"/>
                      <a:tailEnd type="none" w="med" len="med"/>
                    </a:lnB>
                    <a:solidFill>
                      <a:srgbClr val="E9EDF4"/>
                    </a:solidFill>
                  </a:tcPr>
                </a:tc>
                <a:tc>
                  <a:txBody>
                    <a:bodyPr anchor="t" rtlCol="false"/>
                    <a:lstStyle/>
                    <a:p>
                      <a:pPr algn="l">
                        <a:lnSpc>
                          <a:spcPts val="1679"/>
                        </a:lnSpc>
                        <a:defRPr/>
                      </a:pPr>
                      <a:endParaRPr lang="en-US" sz="1100"/>
                    </a:p>
                  </a:txBody>
                  <a:tcPr marL="91440" marR="91440" marT="91440" marB="91440" anchor="ctr">
                    <a:lnL cmpd="sng" algn="ctr" cap="flat" w="6350">
                      <a:solidFill>
                        <a:srgbClr val="1F497D"/>
                      </a:solidFill>
                      <a:prstDash val="solid"/>
                      <a:round/>
                      <a:headEnd type="none" w="med" len="med"/>
                      <a:tailEnd type="none" w="med" len="med"/>
                    </a:lnL>
                    <a:lnR cmpd="sng" algn="ctr" cap="flat" w="6350">
                      <a:solidFill>
                        <a:srgbClr val="1F497D"/>
                      </a:solidFill>
                      <a:prstDash val="solid"/>
                      <a:round/>
                      <a:headEnd type="none" w="med" len="med"/>
                      <a:tailEnd type="none" w="med" len="med"/>
                    </a:lnR>
                    <a:lnT cmpd="sng" algn="ctr" cap="flat" w="6350">
                      <a:solidFill>
                        <a:srgbClr val="1F497D"/>
                      </a:solidFill>
                      <a:prstDash val="solid"/>
                      <a:round/>
                      <a:headEnd type="none" w="med" len="med"/>
                      <a:tailEnd type="none" w="med" len="med"/>
                    </a:lnT>
                    <a:lnB cmpd="sng" algn="ctr" cap="flat" w="6350">
                      <a:solidFill>
                        <a:srgbClr val="1F497D"/>
                      </a:solidFill>
                      <a:prstDash val="solid"/>
                      <a:round/>
                      <a:headEnd type="none" w="med" len="med"/>
                      <a:tailEnd type="none" w="med" len="med"/>
                    </a:lnB>
                    <a:solidFill>
                      <a:srgbClr val="E9EDF4"/>
                    </a:solidFill>
                  </a:tcPr>
                </a:tc>
                <a:tc>
                  <a:txBody>
                    <a:bodyPr anchor="t" rtlCol="false"/>
                    <a:lstStyle/>
                    <a:p>
                      <a:pPr algn="l">
                        <a:lnSpc>
                          <a:spcPts val="1679"/>
                        </a:lnSpc>
                        <a:defRPr/>
                      </a:pPr>
                      <a:endParaRPr lang="en-US" sz="1100"/>
                    </a:p>
                  </a:txBody>
                  <a:tcPr marL="91440" marR="91440" marT="91440" marB="91440" anchor="ctr">
                    <a:lnL cmpd="sng" algn="ctr" cap="flat" w="6350">
                      <a:solidFill>
                        <a:srgbClr val="1F497D"/>
                      </a:solidFill>
                      <a:prstDash val="solid"/>
                      <a:round/>
                      <a:headEnd type="none" w="med" len="med"/>
                      <a:tailEnd type="none" w="med" len="med"/>
                    </a:lnL>
                    <a:lnR cmpd="sng" algn="ctr" cap="flat" w="6350">
                      <a:solidFill>
                        <a:srgbClr val="1F497D"/>
                      </a:solidFill>
                      <a:prstDash val="solid"/>
                      <a:round/>
                      <a:headEnd type="none" w="med" len="med"/>
                      <a:tailEnd type="none" w="med" len="med"/>
                    </a:lnR>
                    <a:lnT cmpd="sng" algn="ctr" cap="flat" w="6350">
                      <a:solidFill>
                        <a:srgbClr val="1F497D"/>
                      </a:solidFill>
                      <a:prstDash val="solid"/>
                      <a:round/>
                      <a:headEnd type="none" w="med" len="med"/>
                      <a:tailEnd type="none" w="med" len="med"/>
                    </a:lnT>
                    <a:lnB cmpd="sng" algn="ctr" cap="flat" w="6350">
                      <a:solidFill>
                        <a:srgbClr val="1F497D"/>
                      </a:solidFill>
                      <a:prstDash val="solid"/>
                      <a:round/>
                      <a:headEnd type="none" w="med" len="med"/>
                      <a:tailEnd type="none" w="med" len="med"/>
                    </a:lnB>
                    <a:solidFill>
                      <a:srgbClr val="E9EDF4"/>
                    </a:solidFill>
                  </a:tcPr>
                </a:tc>
              </a:tr>
              <a:tr h="669163">
                <a:tc>
                  <a:txBody>
                    <a:bodyPr anchor="t" rtlCol="false"/>
                    <a:lstStyle/>
                    <a:p>
                      <a:pPr algn="l">
                        <a:lnSpc>
                          <a:spcPts val="2799"/>
                        </a:lnSpc>
                        <a:defRPr/>
                      </a:pPr>
                      <a:r>
                        <a:rPr lang="en-US" sz="1999">
                          <a:solidFill>
                            <a:srgbClr val="000000"/>
                          </a:solidFill>
                          <a:latin typeface="Arimo"/>
                          <a:ea typeface="Arimo"/>
                          <a:cs typeface="Arimo"/>
                          <a:sym typeface="Arimo"/>
                        </a:rPr>
                        <a:t>Hardware Implementation </a:t>
                      </a:r>
                      <a:endParaRPr lang="en-US" sz="1100"/>
                    </a:p>
                  </a:txBody>
                  <a:tcPr marL="91440" marR="91440" marT="91440" marB="91440" anchor="ctr">
                    <a:lnL cmpd="sng" algn="ctr" cap="flat" w="6350">
                      <a:solidFill>
                        <a:srgbClr val="1F497D"/>
                      </a:solidFill>
                      <a:prstDash val="solid"/>
                      <a:round/>
                      <a:headEnd type="none" w="med" len="med"/>
                      <a:tailEnd type="none" w="med" len="med"/>
                    </a:lnL>
                    <a:lnR cmpd="sng" algn="ctr" cap="flat" w="6350">
                      <a:solidFill>
                        <a:srgbClr val="1F497D"/>
                      </a:solidFill>
                      <a:prstDash val="solid"/>
                      <a:round/>
                      <a:headEnd type="none" w="med" len="med"/>
                      <a:tailEnd type="none" w="med" len="med"/>
                    </a:lnR>
                    <a:lnT cmpd="sng" algn="ctr" cap="flat" w="6350">
                      <a:solidFill>
                        <a:srgbClr val="1F497D"/>
                      </a:solidFill>
                      <a:prstDash val="solid"/>
                      <a:round/>
                      <a:headEnd type="none" w="med" len="med"/>
                      <a:tailEnd type="none" w="med" len="med"/>
                    </a:lnT>
                    <a:lnB cmpd="sng" algn="ctr" cap="flat" w="6350">
                      <a:solidFill>
                        <a:srgbClr val="1F497D"/>
                      </a:solidFill>
                      <a:prstDash val="solid"/>
                      <a:round/>
                      <a:headEnd type="none" w="med" len="med"/>
                      <a:tailEnd type="none" w="med" len="med"/>
                    </a:lnB>
                    <a:solidFill>
                      <a:srgbClr val="A18CBA"/>
                    </a:solidFill>
                  </a:tcPr>
                </a:tc>
                <a:tc>
                  <a:txBody>
                    <a:bodyPr anchor="t" rtlCol="false"/>
                    <a:lstStyle/>
                    <a:p>
                      <a:pPr algn="l">
                        <a:lnSpc>
                          <a:spcPts val="1679"/>
                        </a:lnSpc>
                        <a:defRPr/>
                      </a:pPr>
                      <a:endParaRPr lang="en-US" sz="1100"/>
                    </a:p>
                  </a:txBody>
                  <a:tcPr marL="91440" marR="91440" marT="91440" marB="91440" anchor="ctr">
                    <a:lnL cmpd="sng" algn="ctr" cap="flat" w="6350">
                      <a:solidFill>
                        <a:srgbClr val="1F497D"/>
                      </a:solidFill>
                      <a:prstDash val="solid"/>
                      <a:round/>
                      <a:headEnd type="none" w="med" len="med"/>
                      <a:tailEnd type="none" w="med" len="med"/>
                    </a:lnL>
                    <a:lnR cmpd="sng" algn="ctr" cap="flat" w="6350">
                      <a:solidFill>
                        <a:srgbClr val="1F497D"/>
                      </a:solidFill>
                      <a:prstDash val="solid"/>
                      <a:round/>
                      <a:headEnd type="none" w="med" len="med"/>
                      <a:tailEnd type="none" w="med" len="med"/>
                    </a:lnR>
                    <a:lnT cmpd="sng" algn="ctr" cap="flat" w="6350">
                      <a:solidFill>
                        <a:srgbClr val="1F497D"/>
                      </a:solidFill>
                      <a:prstDash val="solid"/>
                      <a:round/>
                      <a:headEnd type="none" w="med" len="med"/>
                      <a:tailEnd type="none" w="med" len="med"/>
                    </a:lnT>
                    <a:lnB cmpd="sng" algn="ctr" cap="flat" w="6350">
                      <a:solidFill>
                        <a:srgbClr val="1F497D"/>
                      </a:solidFill>
                      <a:prstDash val="solid"/>
                      <a:round/>
                      <a:headEnd type="none" w="med" len="med"/>
                      <a:tailEnd type="none" w="med" len="med"/>
                    </a:lnB>
                    <a:solidFill>
                      <a:srgbClr val="E9EDF4"/>
                    </a:solidFill>
                  </a:tcPr>
                </a:tc>
                <a:tc>
                  <a:txBody>
                    <a:bodyPr anchor="t" rtlCol="false"/>
                    <a:lstStyle/>
                    <a:p>
                      <a:pPr algn="l">
                        <a:lnSpc>
                          <a:spcPts val="1679"/>
                        </a:lnSpc>
                        <a:defRPr/>
                      </a:pPr>
                      <a:endParaRPr lang="en-US" sz="1100"/>
                    </a:p>
                  </a:txBody>
                  <a:tcPr marL="91440" marR="91440" marT="91440" marB="91440" anchor="ctr">
                    <a:lnL cmpd="sng" algn="ctr" cap="flat" w="6350">
                      <a:solidFill>
                        <a:srgbClr val="1F497D"/>
                      </a:solidFill>
                      <a:prstDash val="solid"/>
                      <a:round/>
                      <a:headEnd type="none" w="med" len="med"/>
                      <a:tailEnd type="none" w="med" len="med"/>
                    </a:lnL>
                    <a:lnR cmpd="sng" algn="ctr" cap="flat" w="6350">
                      <a:solidFill>
                        <a:srgbClr val="1F497D"/>
                      </a:solidFill>
                      <a:prstDash val="solid"/>
                      <a:round/>
                      <a:headEnd type="none" w="med" len="med"/>
                      <a:tailEnd type="none" w="med" len="med"/>
                    </a:lnR>
                    <a:lnT cmpd="sng" algn="ctr" cap="flat" w="6350">
                      <a:solidFill>
                        <a:srgbClr val="1F497D"/>
                      </a:solidFill>
                      <a:prstDash val="solid"/>
                      <a:round/>
                      <a:headEnd type="none" w="med" len="med"/>
                      <a:tailEnd type="none" w="med" len="med"/>
                    </a:lnT>
                    <a:lnB cmpd="sng" algn="ctr" cap="flat" w="6350">
                      <a:solidFill>
                        <a:srgbClr val="1F497D"/>
                      </a:solidFill>
                      <a:prstDash val="solid"/>
                      <a:round/>
                      <a:headEnd type="none" w="med" len="med"/>
                      <a:tailEnd type="none" w="med" len="med"/>
                    </a:lnB>
                    <a:solidFill>
                      <a:srgbClr val="E9EDF4"/>
                    </a:solidFill>
                  </a:tcPr>
                </a:tc>
                <a:tc>
                  <a:txBody>
                    <a:bodyPr anchor="t" rtlCol="false"/>
                    <a:lstStyle/>
                    <a:p>
                      <a:pPr algn="l">
                        <a:lnSpc>
                          <a:spcPts val="1679"/>
                        </a:lnSpc>
                        <a:defRPr/>
                      </a:pPr>
                      <a:endParaRPr lang="en-US" sz="1100"/>
                    </a:p>
                  </a:txBody>
                  <a:tcPr marL="91440" marR="91440" marT="91440" marB="91440" anchor="ctr">
                    <a:lnL cmpd="sng" algn="ctr" cap="flat" w="6350">
                      <a:solidFill>
                        <a:srgbClr val="1F497D"/>
                      </a:solidFill>
                      <a:prstDash val="solid"/>
                      <a:round/>
                      <a:headEnd type="none" w="med" len="med"/>
                      <a:tailEnd type="none" w="med" len="med"/>
                    </a:lnL>
                    <a:lnR cmpd="sng" algn="ctr" cap="flat" w="6350">
                      <a:solidFill>
                        <a:srgbClr val="1F497D"/>
                      </a:solidFill>
                      <a:prstDash val="solid"/>
                      <a:round/>
                      <a:headEnd type="none" w="med" len="med"/>
                      <a:tailEnd type="none" w="med" len="med"/>
                    </a:lnR>
                    <a:lnT cmpd="sng" algn="ctr" cap="flat" w="6350">
                      <a:solidFill>
                        <a:srgbClr val="1F497D"/>
                      </a:solidFill>
                      <a:prstDash val="solid"/>
                      <a:round/>
                      <a:headEnd type="none" w="med" len="med"/>
                      <a:tailEnd type="none" w="med" len="med"/>
                    </a:lnT>
                    <a:lnB cmpd="sng" algn="ctr" cap="flat" w="6350">
                      <a:solidFill>
                        <a:srgbClr val="1F497D"/>
                      </a:solidFill>
                      <a:prstDash val="solid"/>
                      <a:round/>
                      <a:headEnd type="none" w="med" len="med"/>
                      <a:tailEnd type="none" w="med" len="med"/>
                    </a:lnB>
                    <a:solidFill>
                      <a:srgbClr val="E9EDF4"/>
                    </a:solidFill>
                  </a:tcPr>
                </a:tc>
                <a:tc>
                  <a:txBody>
                    <a:bodyPr anchor="t" rtlCol="false"/>
                    <a:lstStyle/>
                    <a:p>
                      <a:pPr algn="l">
                        <a:lnSpc>
                          <a:spcPts val="1679"/>
                        </a:lnSpc>
                        <a:defRPr/>
                      </a:pPr>
                      <a:endParaRPr lang="en-US" sz="1100"/>
                    </a:p>
                  </a:txBody>
                  <a:tcPr marL="91440" marR="91440" marT="91440" marB="91440" anchor="ctr">
                    <a:lnL cmpd="sng" algn="ctr" cap="flat" w="6350">
                      <a:solidFill>
                        <a:srgbClr val="1F497D"/>
                      </a:solidFill>
                      <a:prstDash val="solid"/>
                      <a:round/>
                      <a:headEnd type="none" w="med" len="med"/>
                      <a:tailEnd type="none" w="med" len="med"/>
                    </a:lnL>
                    <a:lnR cmpd="sng" algn="ctr" cap="flat" w="6350">
                      <a:solidFill>
                        <a:srgbClr val="1F497D"/>
                      </a:solidFill>
                      <a:prstDash val="solid"/>
                      <a:round/>
                      <a:headEnd type="none" w="med" len="med"/>
                      <a:tailEnd type="none" w="med" len="med"/>
                    </a:lnR>
                    <a:lnT cmpd="sng" algn="ctr" cap="flat" w="6350">
                      <a:solidFill>
                        <a:srgbClr val="1F497D"/>
                      </a:solidFill>
                      <a:prstDash val="solid"/>
                      <a:round/>
                      <a:headEnd type="none" w="med" len="med"/>
                      <a:tailEnd type="none" w="med" len="med"/>
                    </a:lnT>
                    <a:lnB cmpd="sng" algn="ctr" cap="flat" w="6350">
                      <a:solidFill>
                        <a:srgbClr val="1F497D"/>
                      </a:solidFill>
                      <a:prstDash val="solid"/>
                      <a:round/>
                      <a:headEnd type="none" w="med" len="med"/>
                      <a:tailEnd type="none" w="med" len="med"/>
                    </a:lnB>
                    <a:solidFill>
                      <a:srgbClr val="E9EDF4"/>
                    </a:solidFill>
                  </a:tcPr>
                </a:tc>
              </a:tr>
              <a:tr h="704779">
                <a:tc>
                  <a:txBody>
                    <a:bodyPr anchor="t" rtlCol="false"/>
                    <a:lstStyle/>
                    <a:p>
                      <a:pPr algn="l">
                        <a:lnSpc>
                          <a:spcPts val="2799"/>
                        </a:lnSpc>
                        <a:defRPr/>
                      </a:pPr>
                      <a:r>
                        <a:rPr lang="en-US" sz="1999">
                          <a:solidFill>
                            <a:srgbClr val="000000"/>
                          </a:solidFill>
                          <a:latin typeface="Arimo"/>
                          <a:ea typeface="Arimo"/>
                          <a:cs typeface="Arimo"/>
                          <a:sym typeface="Arimo"/>
                        </a:rPr>
                        <a:t>Report Preparation </a:t>
                      </a:r>
                      <a:endParaRPr lang="en-US" sz="1100"/>
                    </a:p>
                  </a:txBody>
                  <a:tcPr marL="91440" marR="91440" marT="91440" marB="91440" anchor="ctr">
                    <a:lnL cmpd="sng" algn="ctr" cap="flat" w="6350">
                      <a:solidFill>
                        <a:srgbClr val="1F497D"/>
                      </a:solidFill>
                      <a:prstDash val="solid"/>
                      <a:round/>
                      <a:headEnd type="none" w="med" len="med"/>
                      <a:tailEnd type="none" w="med" len="med"/>
                    </a:lnL>
                    <a:lnR cmpd="sng" algn="ctr" cap="flat" w="6350">
                      <a:solidFill>
                        <a:srgbClr val="1F497D"/>
                      </a:solidFill>
                      <a:prstDash val="solid"/>
                      <a:round/>
                      <a:headEnd type="none" w="med" len="med"/>
                      <a:tailEnd type="none" w="med" len="med"/>
                    </a:lnR>
                    <a:lnT cmpd="sng" algn="ctr" cap="flat" w="6350">
                      <a:solidFill>
                        <a:srgbClr val="1F497D"/>
                      </a:solidFill>
                      <a:prstDash val="solid"/>
                      <a:round/>
                      <a:headEnd type="none" w="med" len="med"/>
                      <a:tailEnd type="none" w="med" len="med"/>
                    </a:lnT>
                    <a:lnB cmpd="sng" algn="ctr" cap="flat" w="6350">
                      <a:solidFill>
                        <a:srgbClr val="1F497D"/>
                      </a:solidFill>
                      <a:prstDash val="solid"/>
                      <a:round/>
                      <a:headEnd type="none" w="med" len="med"/>
                      <a:tailEnd type="none" w="med" len="med"/>
                    </a:lnB>
                    <a:solidFill>
                      <a:srgbClr val="745A94"/>
                    </a:solidFill>
                  </a:tcPr>
                </a:tc>
                <a:tc>
                  <a:txBody>
                    <a:bodyPr anchor="t" rtlCol="false"/>
                    <a:lstStyle/>
                    <a:p>
                      <a:pPr algn="l">
                        <a:lnSpc>
                          <a:spcPts val="1679"/>
                        </a:lnSpc>
                        <a:defRPr/>
                      </a:pPr>
                      <a:endParaRPr lang="en-US" sz="1100"/>
                    </a:p>
                  </a:txBody>
                  <a:tcPr marL="91440" marR="91440" marT="91440" marB="91440" anchor="ctr">
                    <a:lnL cmpd="sng" algn="ctr" cap="flat" w="6350">
                      <a:solidFill>
                        <a:srgbClr val="1F497D"/>
                      </a:solidFill>
                      <a:prstDash val="solid"/>
                      <a:round/>
                      <a:headEnd type="none" w="med" len="med"/>
                      <a:tailEnd type="none" w="med" len="med"/>
                    </a:lnL>
                    <a:lnR cmpd="sng" algn="ctr" cap="flat" w="6350">
                      <a:solidFill>
                        <a:srgbClr val="1F497D"/>
                      </a:solidFill>
                      <a:prstDash val="solid"/>
                      <a:round/>
                      <a:headEnd type="none" w="med" len="med"/>
                      <a:tailEnd type="none" w="med" len="med"/>
                    </a:lnR>
                    <a:lnT cmpd="sng" algn="ctr" cap="flat" w="6350">
                      <a:solidFill>
                        <a:srgbClr val="1F497D"/>
                      </a:solidFill>
                      <a:prstDash val="solid"/>
                      <a:round/>
                      <a:headEnd type="none" w="med" len="med"/>
                      <a:tailEnd type="none" w="med" len="med"/>
                    </a:lnT>
                    <a:lnB cmpd="sng" algn="ctr" cap="flat" w="6350">
                      <a:solidFill>
                        <a:srgbClr val="1F497D"/>
                      </a:solidFill>
                      <a:prstDash val="solid"/>
                      <a:round/>
                      <a:headEnd type="none" w="med" len="med"/>
                      <a:tailEnd type="none" w="med" len="med"/>
                    </a:lnB>
                    <a:solidFill>
                      <a:srgbClr val="E9EDF4"/>
                    </a:solidFill>
                  </a:tcPr>
                </a:tc>
                <a:tc>
                  <a:txBody>
                    <a:bodyPr anchor="t" rtlCol="false"/>
                    <a:lstStyle/>
                    <a:p>
                      <a:pPr algn="l">
                        <a:lnSpc>
                          <a:spcPts val="1679"/>
                        </a:lnSpc>
                        <a:defRPr/>
                      </a:pPr>
                      <a:endParaRPr lang="en-US" sz="1100"/>
                    </a:p>
                  </a:txBody>
                  <a:tcPr marL="91440" marR="91440" marT="91440" marB="91440" anchor="ctr">
                    <a:lnL cmpd="sng" algn="ctr" cap="flat" w="6350">
                      <a:solidFill>
                        <a:srgbClr val="1F497D"/>
                      </a:solidFill>
                      <a:prstDash val="solid"/>
                      <a:round/>
                      <a:headEnd type="none" w="med" len="med"/>
                      <a:tailEnd type="none" w="med" len="med"/>
                    </a:lnL>
                    <a:lnR cmpd="sng" algn="ctr" cap="flat" w="6350">
                      <a:solidFill>
                        <a:srgbClr val="1F497D"/>
                      </a:solidFill>
                      <a:prstDash val="solid"/>
                      <a:round/>
                      <a:headEnd type="none" w="med" len="med"/>
                      <a:tailEnd type="none" w="med" len="med"/>
                    </a:lnR>
                    <a:lnT cmpd="sng" algn="ctr" cap="flat" w="6350">
                      <a:solidFill>
                        <a:srgbClr val="1F497D"/>
                      </a:solidFill>
                      <a:prstDash val="solid"/>
                      <a:round/>
                      <a:headEnd type="none" w="med" len="med"/>
                      <a:tailEnd type="none" w="med" len="med"/>
                    </a:lnT>
                    <a:lnB cmpd="sng" algn="ctr" cap="flat" w="6350">
                      <a:solidFill>
                        <a:srgbClr val="1F497D"/>
                      </a:solidFill>
                      <a:prstDash val="solid"/>
                      <a:round/>
                      <a:headEnd type="none" w="med" len="med"/>
                      <a:tailEnd type="none" w="med" len="med"/>
                    </a:lnB>
                    <a:solidFill>
                      <a:srgbClr val="E9EDF4"/>
                    </a:solidFill>
                  </a:tcPr>
                </a:tc>
                <a:tc>
                  <a:txBody>
                    <a:bodyPr anchor="t" rtlCol="false"/>
                    <a:lstStyle/>
                    <a:p>
                      <a:pPr algn="l">
                        <a:lnSpc>
                          <a:spcPts val="1679"/>
                        </a:lnSpc>
                        <a:defRPr/>
                      </a:pPr>
                      <a:endParaRPr lang="en-US" sz="1100"/>
                    </a:p>
                  </a:txBody>
                  <a:tcPr marL="91440" marR="91440" marT="91440" marB="91440" anchor="ctr">
                    <a:lnL cmpd="sng" algn="ctr" cap="flat" w="6350">
                      <a:solidFill>
                        <a:srgbClr val="1F497D"/>
                      </a:solidFill>
                      <a:prstDash val="solid"/>
                      <a:round/>
                      <a:headEnd type="none" w="med" len="med"/>
                      <a:tailEnd type="none" w="med" len="med"/>
                    </a:lnL>
                    <a:lnR cmpd="sng" algn="ctr" cap="flat" w="6350">
                      <a:solidFill>
                        <a:srgbClr val="1F497D"/>
                      </a:solidFill>
                      <a:prstDash val="solid"/>
                      <a:round/>
                      <a:headEnd type="none" w="med" len="med"/>
                      <a:tailEnd type="none" w="med" len="med"/>
                    </a:lnR>
                    <a:lnT cmpd="sng" algn="ctr" cap="flat" w="6350">
                      <a:solidFill>
                        <a:srgbClr val="1F497D"/>
                      </a:solidFill>
                      <a:prstDash val="solid"/>
                      <a:round/>
                      <a:headEnd type="none" w="med" len="med"/>
                      <a:tailEnd type="none" w="med" len="med"/>
                    </a:lnT>
                    <a:lnB cmpd="sng" algn="ctr" cap="flat" w="6350">
                      <a:solidFill>
                        <a:srgbClr val="1F497D"/>
                      </a:solidFill>
                      <a:prstDash val="solid"/>
                      <a:round/>
                      <a:headEnd type="none" w="med" len="med"/>
                      <a:tailEnd type="none" w="med" len="med"/>
                    </a:lnB>
                    <a:solidFill>
                      <a:srgbClr val="E9EDF4"/>
                    </a:solidFill>
                  </a:tcPr>
                </a:tc>
                <a:tc>
                  <a:txBody>
                    <a:bodyPr anchor="t" rtlCol="false"/>
                    <a:lstStyle/>
                    <a:p>
                      <a:pPr algn="l">
                        <a:lnSpc>
                          <a:spcPts val="1679"/>
                        </a:lnSpc>
                        <a:defRPr/>
                      </a:pPr>
                      <a:endParaRPr lang="en-US" sz="1100"/>
                    </a:p>
                  </a:txBody>
                  <a:tcPr marL="91440" marR="91440" marT="91440" marB="91440" anchor="ctr">
                    <a:lnL cmpd="sng" algn="ctr" cap="flat" w="6350">
                      <a:solidFill>
                        <a:srgbClr val="1F497D"/>
                      </a:solidFill>
                      <a:prstDash val="solid"/>
                      <a:round/>
                      <a:headEnd type="none" w="med" len="med"/>
                      <a:tailEnd type="none" w="med" len="med"/>
                    </a:lnL>
                    <a:lnR cmpd="sng" algn="ctr" cap="flat" w="6350">
                      <a:solidFill>
                        <a:srgbClr val="1F497D"/>
                      </a:solidFill>
                      <a:prstDash val="solid"/>
                      <a:round/>
                      <a:headEnd type="none" w="med" len="med"/>
                      <a:tailEnd type="none" w="med" len="med"/>
                    </a:lnR>
                    <a:lnT cmpd="sng" algn="ctr" cap="flat" w="6350">
                      <a:solidFill>
                        <a:srgbClr val="1F497D"/>
                      </a:solidFill>
                      <a:prstDash val="solid"/>
                      <a:round/>
                      <a:headEnd type="none" w="med" len="med"/>
                      <a:tailEnd type="none" w="med" len="med"/>
                    </a:lnT>
                    <a:lnB cmpd="sng" algn="ctr" cap="flat" w="6350">
                      <a:solidFill>
                        <a:srgbClr val="1F497D"/>
                      </a:solidFill>
                      <a:prstDash val="solid"/>
                      <a:round/>
                      <a:headEnd type="none" w="med" len="med"/>
                      <a:tailEnd type="none" w="med" len="med"/>
                    </a:lnB>
                    <a:solidFill>
                      <a:srgbClr val="E9EDF4"/>
                    </a:solidFill>
                  </a:tcPr>
                </a:tc>
              </a:tr>
            </a:tbl>
          </a:graphicData>
        </a:graphic>
      </p:graphicFrame>
      <p:grpSp>
        <p:nvGrpSpPr>
          <p:cNvPr name="Group 18" id="18"/>
          <p:cNvGrpSpPr/>
          <p:nvPr/>
        </p:nvGrpSpPr>
        <p:grpSpPr>
          <a:xfrm rot="0">
            <a:off x="5849541" y="4613537"/>
            <a:ext cx="5393602" cy="609600"/>
            <a:chOff x="0" y="0"/>
            <a:chExt cx="7191470" cy="812800"/>
          </a:xfrm>
        </p:grpSpPr>
        <p:sp>
          <p:nvSpPr>
            <p:cNvPr name="Freeform 19" id="19"/>
            <p:cNvSpPr/>
            <p:nvPr/>
          </p:nvSpPr>
          <p:spPr>
            <a:xfrm flipH="false" flipV="false" rot="0">
              <a:off x="39514" y="25400"/>
              <a:ext cx="7112443" cy="762000"/>
            </a:xfrm>
            <a:custGeom>
              <a:avLst/>
              <a:gdLst/>
              <a:ahLst/>
              <a:cxnLst/>
              <a:rect r="r" b="b" t="t" l="l"/>
              <a:pathLst>
                <a:path h="762000" w="7112443">
                  <a:moveTo>
                    <a:pt x="0" y="0"/>
                  </a:moveTo>
                  <a:lnTo>
                    <a:pt x="6487140" y="0"/>
                  </a:lnTo>
                  <a:lnTo>
                    <a:pt x="7112442" y="381000"/>
                  </a:lnTo>
                  <a:lnTo>
                    <a:pt x="6487140" y="762000"/>
                  </a:lnTo>
                  <a:lnTo>
                    <a:pt x="0" y="762000"/>
                  </a:lnTo>
                  <a:close/>
                </a:path>
              </a:pathLst>
            </a:custGeom>
            <a:solidFill>
              <a:srgbClr val="C3D69B"/>
            </a:solidFill>
          </p:spPr>
        </p:sp>
        <p:sp>
          <p:nvSpPr>
            <p:cNvPr name="Freeform 20" id="20"/>
            <p:cNvSpPr/>
            <p:nvPr/>
          </p:nvSpPr>
          <p:spPr>
            <a:xfrm flipH="false" flipV="false" rot="0">
              <a:off x="0" y="0"/>
              <a:ext cx="7191470" cy="812800"/>
            </a:xfrm>
            <a:custGeom>
              <a:avLst/>
              <a:gdLst/>
              <a:ahLst/>
              <a:cxnLst/>
              <a:rect r="r" b="b" t="t" l="l"/>
              <a:pathLst>
                <a:path h="812800" w="7191470">
                  <a:moveTo>
                    <a:pt x="39514" y="0"/>
                  </a:moveTo>
                  <a:lnTo>
                    <a:pt x="6526654" y="0"/>
                  </a:lnTo>
                  <a:cubicBezTo>
                    <a:pt x="6536730" y="0"/>
                    <a:pt x="6546410" y="2540"/>
                    <a:pt x="6553919" y="6985"/>
                  </a:cubicBezTo>
                  <a:lnTo>
                    <a:pt x="7179221" y="387985"/>
                  </a:lnTo>
                  <a:cubicBezTo>
                    <a:pt x="7187123" y="392811"/>
                    <a:pt x="7191470" y="399415"/>
                    <a:pt x="7191470" y="406400"/>
                  </a:cubicBezTo>
                  <a:cubicBezTo>
                    <a:pt x="7191470" y="413385"/>
                    <a:pt x="7186926" y="419989"/>
                    <a:pt x="7179221" y="424815"/>
                  </a:cubicBezTo>
                  <a:lnTo>
                    <a:pt x="6553919" y="805815"/>
                  </a:lnTo>
                  <a:cubicBezTo>
                    <a:pt x="6546608" y="810260"/>
                    <a:pt x="6536927" y="812800"/>
                    <a:pt x="6526654" y="812800"/>
                  </a:cubicBezTo>
                  <a:lnTo>
                    <a:pt x="39514" y="812800"/>
                  </a:lnTo>
                  <a:cubicBezTo>
                    <a:pt x="17781" y="812800"/>
                    <a:pt x="0" y="801370"/>
                    <a:pt x="0" y="787400"/>
                  </a:cubicBezTo>
                  <a:lnTo>
                    <a:pt x="0" y="25400"/>
                  </a:lnTo>
                  <a:cubicBezTo>
                    <a:pt x="0" y="11430"/>
                    <a:pt x="17781" y="0"/>
                    <a:pt x="39514" y="0"/>
                  </a:cubicBezTo>
                  <a:moveTo>
                    <a:pt x="39514" y="50800"/>
                  </a:moveTo>
                  <a:lnTo>
                    <a:pt x="39514" y="25400"/>
                  </a:lnTo>
                  <a:lnTo>
                    <a:pt x="79027" y="25400"/>
                  </a:lnTo>
                  <a:lnTo>
                    <a:pt x="79027" y="787400"/>
                  </a:lnTo>
                  <a:lnTo>
                    <a:pt x="39514" y="787400"/>
                  </a:lnTo>
                  <a:lnTo>
                    <a:pt x="39514" y="762000"/>
                  </a:lnTo>
                  <a:lnTo>
                    <a:pt x="6526654" y="762000"/>
                  </a:lnTo>
                  <a:lnTo>
                    <a:pt x="6526654" y="787400"/>
                  </a:lnTo>
                  <a:lnTo>
                    <a:pt x="6499389" y="768985"/>
                  </a:lnTo>
                  <a:lnTo>
                    <a:pt x="7124691" y="387985"/>
                  </a:lnTo>
                  <a:lnTo>
                    <a:pt x="7151956" y="406400"/>
                  </a:lnTo>
                  <a:lnTo>
                    <a:pt x="7124691" y="424815"/>
                  </a:lnTo>
                  <a:lnTo>
                    <a:pt x="6499389" y="43815"/>
                  </a:lnTo>
                  <a:lnTo>
                    <a:pt x="6526654" y="25400"/>
                  </a:lnTo>
                  <a:lnTo>
                    <a:pt x="6526654" y="50800"/>
                  </a:lnTo>
                  <a:lnTo>
                    <a:pt x="39514" y="50800"/>
                  </a:lnTo>
                  <a:close/>
                </a:path>
              </a:pathLst>
            </a:custGeom>
            <a:solidFill>
              <a:srgbClr val="77933C"/>
            </a:solidFill>
          </p:spPr>
        </p:sp>
      </p:grpSp>
      <p:grpSp>
        <p:nvGrpSpPr>
          <p:cNvPr name="Group 21" id="21"/>
          <p:cNvGrpSpPr/>
          <p:nvPr/>
        </p:nvGrpSpPr>
        <p:grpSpPr>
          <a:xfrm rot="0">
            <a:off x="8534400" y="5306049"/>
            <a:ext cx="4666278" cy="609600"/>
            <a:chOff x="0" y="0"/>
            <a:chExt cx="6221704" cy="812800"/>
          </a:xfrm>
        </p:grpSpPr>
        <p:sp>
          <p:nvSpPr>
            <p:cNvPr name="Freeform 22" id="22"/>
            <p:cNvSpPr/>
            <p:nvPr/>
          </p:nvSpPr>
          <p:spPr>
            <a:xfrm flipH="false" flipV="false" rot="0">
              <a:off x="29568" y="25400"/>
              <a:ext cx="6162640" cy="762000"/>
            </a:xfrm>
            <a:custGeom>
              <a:avLst/>
              <a:gdLst/>
              <a:ahLst/>
              <a:cxnLst/>
              <a:rect r="r" b="b" t="t" l="l"/>
              <a:pathLst>
                <a:path h="762000" w="6162640">
                  <a:moveTo>
                    <a:pt x="0" y="0"/>
                  </a:moveTo>
                  <a:lnTo>
                    <a:pt x="5693981" y="0"/>
                  </a:lnTo>
                  <a:lnTo>
                    <a:pt x="6162640" y="381000"/>
                  </a:lnTo>
                  <a:lnTo>
                    <a:pt x="5693981" y="762000"/>
                  </a:lnTo>
                  <a:lnTo>
                    <a:pt x="0" y="762000"/>
                  </a:lnTo>
                  <a:close/>
                </a:path>
              </a:pathLst>
            </a:custGeom>
            <a:solidFill>
              <a:srgbClr val="C3D69B"/>
            </a:solidFill>
          </p:spPr>
        </p:sp>
        <p:sp>
          <p:nvSpPr>
            <p:cNvPr name="Freeform 23" id="23"/>
            <p:cNvSpPr/>
            <p:nvPr/>
          </p:nvSpPr>
          <p:spPr>
            <a:xfrm flipH="false" flipV="false" rot="0">
              <a:off x="0" y="0"/>
              <a:ext cx="6221766" cy="812800"/>
            </a:xfrm>
            <a:custGeom>
              <a:avLst/>
              <a:gdLst/>
              <a:ahLst/>
              <a:cxnLst/>
              <a:rect r="r" b="b" t="t" l="l"/>
              <a:pathLst>
                <a:path h="812800" w="6221766">
                  <a:moveTo>
                    <a:pt x="29568" y="0"/>
                  </a:moveTo>
                  <a:lnTo>
                    <a:pt x="5723549" y="0"/>
                  </a:lnTo>
                  <a:cubicBezTo>
                    <a:pt x="5731090" y="0"/>
                    <a:pt x="5738333" y="2540"/>
                    <a:pt x="5743804" y="6985"/>
                  </a:cubicBezTo>
                  <a:lnTo>
                    <a:pt x="6212463" y="387985"/>
                  </a:lnTo>
                  <a:cubicBezTo>
                    <a:pt x="6218376" y="392811"/>
                    <a:pt x="6221766" y="399415"/>
                    <a:pt x="6221766" y="406400"/>
                  </a:cubicBezTo>
                  <a:cubicBezTo>
                    <a:pt x="6221766" y="413385"/>
                    <a:pt x="6218376" y="419989"/>
                    <a:pt x="6212463" y="424815"/>
                  </a:cubicBezTo>
                  <a:lnTo>
                    <a:pt x="5743804" y="805815"/>
                  </a:lnTo>
                  <a:cubicBezTo>
                    <a:pt x="5738333" y="810260"/>
                    <a:pt x="5731090" y="812800"/>
                    <a:pt x="5723549" y="812800"/>
                  </a:cubicBezTo>
                  <a:lnTo>
                    <a:pt x="29568" y="812800"/>
                  </a:lnTo>
                  <a:cubicBezTo>
                    <a:pt x="13306" y="812800"/>
                    <a:pt x="0" y="801370"/>
                    <a:pt x="0" y="787400"/>
                  </a:cubicBezTo>
                  <a:lnTo>
                    <a:pt x="0" y="25400"/>
                  </a:lnTo>
                  <a:cubicBezTo>
                    <a:pt x="0" y="11430"/>
                    <a:pt x="13306" y="0"/>
                    <a:pt x="29568" y="0"/>
                  </a:cubicBezTo>
                  <a:moveTo>
                    <a:pt x="29568" y="50800"/>
                  </a:moveTo>
                  <a:lnTo>
                    <a:pt x="29568" y="25400"/>
                  </a:lnTo>
                  <a:lnTo>
                    <a:pt x="59137" y="25400"/>
                  </a:lnTo>
                  <a:lnTo>
                    <a:pt x="59137" y="787400"/>
                  </a:lnTo>
                  <a:lnTo>
                    <a:pt x="29568" y="787400"/>
                  </a:lnTo>
                  <a:lnTo>
                    <a:pt x="29568" y="762000"/>
                  </a:lnTo>
                  <a:lnTo>
                    <a:pt x="5723549" y="762000"/>
                  </a:lnTo>
                  <a:lnTo>
                    <a:pt x="5723549" y="787400"/>
                  </a:lnTo>
                  <a:lnTo>
                    <a:pt x="5703295" y="768985"/>
                  </a:lnTo>
                  <a:lnTo>
                    <a:pt x="6171954" y="387985"/>
                  </a:lnTo>
                  <a:lnTo>
                    <a:pt x="6192208" y="406400"/>
                  </a:lnTo>
                  <a:lnTo>
                    <a:pt x="6171954" y="424815"/>
                  </a:lnTo>
                  <a:lnTo>
                    <a:pt x="5703295" y="43815"/>
                  </a:lnTo>
                  <a:lnTo>
                    <a:pt x="5723549" y="25400"/>
                  </a:lnTo>
                  <a:lnTo>
                    <a:pt x="5723549" y="50800"/>
                  </a:lnTo>
                  <a:lnTo>
                    <a:pt x="29568" y="50800"/>
                  </a:lnTo>
                  <a:close/>
                </a:path>
              </a:pathLst>
            </a:custGeom>
            <a:solidFill>
              <a:srgbClr val="77933C"/>
            </a:solidFill>
          </p:spPr>
        </p:sp>
      </p:grpSp>
      <p:grpSp>
        <p:nvGrpSpPr>
          <p:cNvPr name="Group 24" id="24"/>
          <p:cNvGrpSpPr/>
          <p:nvPr/>
        </p:nvGrpSpPr>
        <p:grpSpPr>
          <a:xfrm rot="0">
            <a:off x="10353675" y="6021356"/>
            <a:ext cx="3623740" cy="628440"/>
            <a:chOff x="0" y="0"/>
            <a:chExt cx="4831653" cy="837920"/>
          </a:xfrm>
        </p:grpSpPr>
        <p:sp>
          <p:nvSpPr>
            <p:cNvPr name="Freeform 25" id="25"/>
            <p:cNvSpPr/>
            <p:nvPr/>
          </p:nvSpPr>
          <p:spPr>
            <a:xfrm flipH="false" flipV="false" rot="0">
              <a:off x="19642" y="25400"/>
              <a:ext cx="4792389" cy="787146"/>
            </a:xfrm>
            <a:custGeom>
              <a:avLst/>
              <a:gdLst/>
              <a:ahLst/>
              <a:cxnLst/>
              <a:rect r="r" b="b" t="t" l="l"/>
              <a:pathLst>
                <a:path h="787146" w="4792389">
                  <a:moveTo>
                    <a:pt x="0" y="0"/>
                  </a:moveTo>
                  <a:lnTo>
                    <a:pt x="4471049" y="0"/>
                  </a:lnTo>
                  <a:lnTo>
                    <a:pt x="4792388" y="393573"/>
                  </a:lnTo>
                  <a:lnTo>
                    <a:pt x="4471049" y="787146"/>
                  </a:lnTo>
                  <a:lnTo>
                    <a:pt x="0" y="787146"/>
                  </a:lnTo>
                  <a:close/>
                </a:path>
              </a:pathLst>
            </a:custGeom>
            <a:solidFill>
              <a:srgbClr val="C3D69B"/>
            </a:solidFill>
          </p:spPr>
        </p:sp>
        <p:sp>
          <p:nvSpPr>
            <p:cNvPr name="Freeform 26" id="26"/>
            <p:cNvSpPr/>
            <p:nvPr/>
          </p:nvSpPr>
          <p:spPr>
            <a:xfrm flipH="false" flipV="false" rot="0">
              <a:off x="0" y="0"/>
              <a:ext cx="4831678" cy="837946"/>
            </a:xfrm>
            <a:custGeom>
              <a:avLst/>
              <a:gdLst/>
              <a:ahLst/>
              <a:cxnLst/>
              <a:rect r="r" b="b" t="t" l="l"/>
              <a:pathLst>
                <a:path h="837946" w="4831678">
                  <a:moveTo>
                    <a:pt x="19642" y="0"/>
                  </a:moveTo>
                  <a:lnTo>
                    <a:pt x="4490691" y="0"/>
                  </a:lnTo>
                  <a:cubicBezTo>
                    <a:pt x="4495700" y="0"/>
                    <a:pt x="4500512" y="2540"/>
                    <a:pt x="4504244" y="6985"/>
                  </a:cubicBezTo>
                  <a:lnTo>
                    <a:pt x="4825583" y="400558"/>
                  </a:lnTo>
                  <a:cubicBezTo>
                    <a:pt x="4829511" y="405384"/>
                    <a:pt x="4831678" y="411988"/>
                    <a:pt x="4831678" y="418973"/>
                  </a:cubicBezTo>
                  <a:cubicBezTo>
                    <a:pt x="4831678" y="425958"/>
                    <a:pt x="4829413" y="432562"/>
                    <a:pt x="4825583" y="437388"/>
                  </a:cubicBezTo>
                  <a:lnTo>
                    <a:pt x="4504146" y="830961"/>
                  </a:lnTo>
                  <a:cubicBezTo>
                    <a:pt x="4500512" y="835406"/>
                    <a:pt x="4495700" y="837946"/>
                    <a:pt x="4490593" y="837946"/>
                  </a:cubicBezTo>
                  <a:lnTo>
                    <a:pt x="19642" y="837946"/>
                  </a:lnTo>
                  <a:cubicBezTo>
                    <a:pt x="8839" y="837946"/>
                    <a:pt x="0" y="826516"/>
                    <a:pt x="0" y="812546"/>
                  </a:cubicBezTo>
                  <a:lnTo>
                    <a:pt x="0" y="25400"/>
                  </a:lnTo>
                  <a:cubicBezTo>
                    <a:pt x="0" y="11430"/>
                    <a:pt x="8839" y="0"/>
                    <a:pt x="19642" y="0"/>
                  </a:cubicBezTo>
                  <a:moveTo>
                    <a:pt x="19642" y="50800"/>
                  </a:moveTo>
                  <a:lnTo>
                    <a:pt x="19642" y="25400"/>
                  </a:lnTo>
                  <a:lnTo>
                    <a:pt x="39283" y="25400"/>
                  </a:lnTo>
                  <a:lnTo>
                    <a:pt x="39283" y="812546"/>
                  </a:lnTo>
                  <a:lnTo>
                    <a:pt x="19642" y="812546"/>
                  </a:lnTo>
                  <a:lnTo>
                    <a:pt x="19642" y="787146"/>
                  </a:lnTo>
                  <a:lnTo>
                    <a:pt x="4490691" y="787146"/>
                  </a:lnTo>
                  <a:lnTo>
                    <a:pt x="4490691" y="812546"/>
                  </a:lnTo>
                  <a:lnTo>
                    <a:pt x="4477138" y="794131"/>
                  </a:lnTo>
                  <a:lnTo>
                    <a:pt x="4798477" y="400558"/>
                  </a:lnTo>
                  <a:lnTo>
                    <a:pt x="4812030" y="418973"/>
                  </a:lnTo>
                  <a:lnTo>
                    <a:pt x="4798477" y="437388"/>
                  </a:lnTo>
                  <a:lnTo>
                    <a:pt x="4477138" y="43815"/>
                  </a:lnTo>
                  <a:lnTo>
                    <a:pt x="4490691" y="25400"/>
                  </a:lnTo>
                  <a:lnTo>
                    <a:pt x="4490691" y="50800"/>
                  </a:lnTo>
                  <a:lnTo>
                    <a:pt x="19642" y="50800"/>
                  </a:lnTo>
                  <a:close/>
                </a:path>
              </a:pathLst>
            </a:custGeom>
            <a:solidFill>
              <a:srgbClr val="77933C"/>
            </a:solidFill>
          </p:spPr>
        </p:sp>
      </p:grpSp>
      <p:grpSp>
        <p:nvGrpSpPr>
          <p:cNvPr name="Group 27" id="27"/>
          <p:cNvGrpSpPr/>
          <p:nvPr/>
        </p:nvGrpSpPr>
        <p:grpSpPr>
          <a:xfrm rot="0">
            <a:off x="12157305" y="6745978"/>
            <a:ext cx="3448260" cy="609600"/>
            <a:chOff x="0" y="0"/>
            <a:chExt cx="4597681" cy="812800"/>
          </a:xfrm>
        </p:grpSpPr>
        <p:sp>
          <p:nvSpPr>
            <p:cNvPr name="Freeform 28" id="28"/>
            <p:cNvSpPr/>
            <p:nvPr/>
          </p:nvSpPr>
          <p:spPr>
            <a:xfrm flipH="false" flipV="false" rot="0">
              <a:off x="25262" y="25400"/>
              <a:ext cx="4547157" cy="762000"/>
            </a:xfrm>
            <a:custGeom>
              <a:avLst/>
              <a:gdLst/>
              <a:ahLst/>
              <a:cxnLst/>
              <a:rect r="r" b="b" t="t" l="l"/>
              <a:pathLst>
                <a:path h="762000" w="4547157">
                  <a:moveTo>
                    <a:pt x="0" y="0"/>
                  </a:moveTo>
                  <a:lnTo>
                    <a:pt x="4147386" y="0"/>
                  </a:lnTo>
                  <a:lnTo>
                    <a:pt x="4547157" y="381000"/>
                  </a:lnTo>
                  <a:lnTo>
                    <a:pt x="4147386" y="762000"/>
                  </a:lnTo>
                  <a:lnTo>
                    <a:pt x="0" y="762000"/>
                  </a:lnTo>
                  <a:close/>
                </a:path>
              </a:pathLst>
            </a:custGeom>
            <a:solidFill>
              <a:srgbClr val="C3D69B"/>
            </a:solidFill>
          </p:spPr>
        </p:sp>
        <p:sp>
          <p:nvSpPr>
            <p:cNvPr name="Freeform 29" id="29"/>
            <p:cNvSpPr/>
            <p:nvPr/>
          </p:nvSpPr>
          <p:spPr>
            <a:xfrm flipH="false" flipV="false" rot="0">
              <a:off x="0" y="0"/>
              <a:ext cx="4597681" cy="812800"/>
            </a:xfrm>
            <a:custGeom>
              <a:avLst/>
              <a:gdLst/>
              <a:ahLst/>
              <a:cxnLst/>
              <a:rect r="r" b="b" t="t" l="l"/>
              <a:pathLst>
                <a:path h="812800" w="4597681">
                  <a:moveTo>
                    <a:pt x="25262" y="0"/>
                  </a:moveTo>
                  <a:lnTo>
                    <a:pt x="4172648" y="0"/>
                  </a:lnTo>
                  <a:cubicBezTo>
                    <a:pt x="4179090" y="0"/>
                    <a:pt x="4185279" y="2540"/>
                    <a:pt x="4190079" y="6985"/>
                  </a:cubicBezTo>
                  <a:lnTo>
                    <a:pt x="4589849" y="387985"/>
                  </a:lnTo>
                  <a:cubicBezTo>
                    <a:pt x="4594902" y="392811"/>
                    <a:pt x="4597681" y="399415"/>
                    <a:pt x="4597681" y="406400"/>
                  </a:cubicBezTo>
                  <a:cubicBezTo>
                    <a:pt x="4597681" y="413385"/>
                    <a:pt x="4594776" y="419989"/>
                    <a:pt x="4589849" y="424815"/>
                  </a:cubicBezTo>
                  <a:lnTo>
                    <a:pt x="4190079" y="805815"/>
                  </a:lnTo>
                  <a:cubicBezTo>
                    <a:pt x="4185405" y="810260"/>
                    <a:pt x="4179216" y="812800"/>
                    <a:pt x="4172648" y="812800"/>
                  </a:cubicBezTo>
                  <a:lnTo>
                    <a:pt x="25262" y="812800"/>
                  </a:lnTo>
                  <a:cubicBezTo>
                    <a:pt x="11368" y="812800"/>
                    <a:pt x="0" y="801370"/>
                    <a:pt x="0" y="787400"/>
                  </a:cubicBezTo>
                  <a:lnTo>
                    <a:pt x="0" y="25400"/>
                  </a:lnTo>
                  <a:cubicBezTo>
                    <a:pt x="0" y="11430"/>
                    <a:pt x="11368" y="0"/>
                    <a:pt x="25262" y="0"/>
                  </a:cubicBezTo>
                  <a:moveTo>
                    <a:pt x="25262" y="50800"/>
                  </a:moveTo>
                  <a:lnTo>
                    <a:pt x="25262" y="25400"/>
                  </a:lnTo>
                  <a:lnTo>
                    <a:pt x="50524" y="25400"/>
                  </a:lnTo>
                  <a:lnTo>
                    <a:pt x="50524" y="787400"/>
                  </a:lnTo>
                  <a:lnTo>
                    <a:pt x="25262" y="787400"/>
                  </a:lnTo>
                  <a:lnTo>
                    <a:pt x="25262" y="762000"/>
                  </a:lnTo>
                  <a:lnTo>
                    <a:pt x="4172648" y="762000"/>
                  </a:lnTo>
                  <a:lnTo>
                    <a:pt x="4172648" y="787400"/>
                  </a:lnTo>
                  <a:lnTo>
                    <a:pt x="4155217" y="768985"/>
                  </a:lnTo>
                  <a:lnTo>
                    <a:pt x="4554988" y="387985"/>
                  </a:lnTo>
                  <a:lnTo>
                    <a:pt x="4572419" y="406400"/>
                  </a:lnTo>
                  <a:lnTo>
                    <a:pt x="4554988" y="424815"/>
                  </a:lnTo>
                  <a:lnTo>
                    <a:pt x="4155217" y="43815"/>
                  </a:lnTo>
                  <a:lnTo>
                    <a:pt x="4172648" y="25400"/>
                  </a:lnTo>
                  <a:lnTo>
                    <a:pt x="4172648" y="50800"/>
                  </a:lnTo>
                  <a:lnTo>
                    <a:pt x="25262" y="50800"/>
                  </a:lnTo>
                  <a:close/>
                </a:path>
              </a:pathLst>
            </a:custGeom>
            <a:solidFill>
              <a:srgbClr val="77933C"/>
            </a:solidFill>
          </p:spPr>
        </p:sp>
      </p:grpSp>
      <p:grpSp>
        <p:nvGrpSpPr>
          <p:cNvPr name="Group 30" id="30"/>
          <p:cNvGrpSpPr/>
          <p:nvPr/>
        </p:nvGrpSpPr>
        <p:grpSpPr>
          <a:xfrm rot="0">
            <a:off x="13372769" y="7431778"/>
            <a:ext cx="3353131" cy="609600"/>
            <a:chOff x="0" y="0"/>
            <a:chExt cx="4470841" cy="812800"/>
          </a:xfrm>
        </p:grpSpPr>
        <p:sp>
          <p:nvSpPr>
            <p:cNvPr name="Freeform 31" id="31"/>
            <p:cNvSpPr/>
            <p:nvPr/>
          </p:nvSpPr>
          <p:spPr>
            <a:xfrm flipH="false" flipV="false" rot="0">
              <a:off x="24565" y="25400"/>
              <a:ext cx="4421711" cy="762000"/>
            </a:xfrm>
            <a:custGeom>
              <a:avLst/>
              <a:gdLst/>
              <a:ahLst/>
              <a:cxnLst/>
              <a:rect r="r" b="b" t="t" l="l"/>
              <a:pathLst>
                <a:path h="762000" w="4421711">
                  <a:moveTo>
                    <a:pt x="0" y="0"/>
                  </a:moveTo>
                  <a:lnTo>
                    <a:pt x="4032970" y="0"/>
                  </a:lnTo>
                  <a:lnTo>
                    <a:pt x="4421711" y="381000"/>
                  </a:lnTo>
                  <a:lnTo>
                    <a:pt x="4032970" y="762000"/>
                  </a:lnTo>
                  <a:lnTo>
                    <a:pt x="0" y="762000"/>
                  </a:lnTo>
                  <a:close/>
                </a:path>
              </a:pathLst>
            </a:custGeom>
            <a:solidFill>
              <a:srgbClr val="C3D69B"/>
            </a:solidFill>
          </p:spPr>
        </p:sp>
        <p:sp>
          <p:nvSpPr>
            <p:cNvPr name="Freeform 32" id="32"/>
            <p:cNvSpPr/>
            <p:nvPr/>
          </p:nvSpPr>
          <p:spPr>
            <a:xfrm flipH="false" flipV="false" rot="0">
              <a:off x="0" y="0"/>
              <a:ext cx="4470841" cy="812800"/>
            </a:xfrm>
            <a:custGeom>
              <a:avLst/>
              <a:gdLst/>
              <a:ahLst/>
              <a:cxnLst/>
              <a:rect r="r" b="b" t="t" l="l"/>
              <a:pathLst>
                <a:path h="812800" w="4470841">
                  <a:moveTo>
                    <a:pt x="24565" y="0"/>
                  </a:moveTo>
                  <a:lnTo>
                    <a:pt x="4057535" y="0"/>
                  </a:lnTo>
                  <a:cubicBezTo>
                    <a:pt x="4063798" y="0"/>
                    <a:pt x="4069817" y="2540"/>
                    <a:pt x="4074484" y="6985"/>
                  </a:cubicBezTo>
                  <a:lnTo>
                    <a:pt x="4463226" y="387985"/>
                  </a:lnTo>
                  <a:cubicBezTo>
                    <a:pt x="4468139" y="392811"/>
                    <a:pt x="4470841" y="399415"/>
                    <a:pt x="4470841" y="406400"/>
                  </a:cubicBezTo>
                  <a:cubicBezTo>
                    <a:pt x="4470841" y="413385"/>
                    <a:pt x="4468017" y="419989"/>
                    <a:pt x="4463226" y="424815"/>
                  </a:cubicBezTo>
                  <a:lnTo>
                    <a:pt x="4074484" y="805815"/>
                  </a:lnTo>
                  <a:cubicBezTo>
                    <a:pt x="4069940" y="810260"/>
                    <a:pt x="4063921" y="812800"/>
                    <a:pt x="4057535" y="812800"/>
                  </a:cubicBezTo>
                  <a:lnTo>
                    <a:pt x="24565" y="812800"/>
                  </a:lnTo>
                  <a:cubicBezTo>
                    <a:pt x="11054" y="812800"/>
                    <a:pt x="0" y="801370"/>
                    <a:pt x="0" y="787400"/>
                  </a:cubicBezTo>
                  <a:lnTo>
                    <a:pt x="0" y="25400"/>
                  </a:lnTo>
                  <a:cubicBezTo>
                    <a:pt x="0" y="11430"/>
                    <a:pt x="11054" y="0"/>
                    <a:pt x="24565" y="0"/>
                  </a:cubicBezTo>
                  <a:moveTo>
                    <a:pt x="24565" y="50800"/>
                  </a:moveTo>
                  <a:lnTo>
                    <a:pt x="24565" y="25400"/>
                  </a:lnTo>
                  <a:lnTo>
                    <a:pt x="49130" y="25400"/>
                  </a:lnTo>
                  <a:lnTo>
                    <a:pt x="49130" y="787400"/>
                  </a:lnTo>
                  <a:lnTo>
                    <a:pt x="24565" y="787400"/>
                  </a:lnTo>
                  <a:lnTo>
                    <a:pt x="24565" y="762000"/>
                  </a:lnTo>
                  <a:lnTo>
                    <a:pt x="4057535" y="762000"/>
                  </a:lnTo>
                  <a:lnTo>
                    <a:pt x="4057535" y="787400"/>
                  </a:lnTo>
                  <a:lnTo>
                    <a:pt x="4040584" y="768985"/>
                  </a:lnTo>
                  <a:lnTo>
                    <a:pt x="4429327" y="387985"/>
                  </a:lnTo>
                  <a:lnTo>
                    <a:pt x="4446276" y="406400"/>
                  </a:lnTo>
                  <a:lnTo>
                    <a:pt x="4429327" y="424815"/>
                  </a:lnTo>
                  <a:lnTo>
                    <a:pt x="4040584" y="43815"/>
                  </a:lnTo>
                  <a:lnTo>
                    <a:pt x="4057535" y="25400"/>
                  </a:lnTo>
                  <a:lnTo>
                    <a:pt x="4057535" y="50800"/>
                  </a:lnTo>
                  <a:lnTo>
                    <a:pt x="24565" y="50800"/>
                  </a:lnTo>
                  <a:close/>
                </a:path>
              </a:pathLst>
            </a:custGeom>
            <a:solidFill>
              <a:srgbClr val="77933C"/>
            </a:solidFill>
          </p:spPr>
        </p:sp>
      </p:grpSp>
      <p:grpSp>
        <p:nvGrpSpPr>
          <p:cNvPr name="Group 33" id="33"/>
          <p:cNvGrpSpPr>
            <a:grpSpLocks noChangeAspect="true"/>
          </p:cNvGrpSpPr>
          <p:nvPr/>
        </p:nvGrpSpPr>
        <p:grpSpPr>
          <a:xfrm rot="0">
            <a:off x="14414500" y="9644064"/>
            <a:ext cx="1892299" cy="528638"/>
            <a:chOff x="0" y="0"/>
            <a:chExt cx="2523066" cy="704850"/>
          </a:xfrm>
        </p:grpSpPr>
        <p:sp>
          <p:nvSpPr>
            <p:cNvPr name="Freeform 34" id="34"/>
            <p:cNvSpPr/>
            <p:nvPr/>
          </p:nvSpPr>
          <p:spPr>
            <a:xfrm flipH="false" flipV="false" rot="0">
              <a:off x="0" y="0"/>
              <a:ext cx="2523109" cy="704850"/>
            </a:xfrm>
            <a:custGeom>
              <a:avLst/>
              <a:gdLst/>
              <a:ahLst/>
              <a:cxnLst/>
              <a:rect r="r" b="b" t="t" l="l"/>
              <a:pathLst>
                <a:path h="704850" w="2523109">
                  <a:moveTo>
                    <a:pt x="0" y="0"/>
                  </a:moveTo>
                  <a:lnTo>
                    <a:pt x="2523109" y="0"/>
                  </a:lnTo>
                  <a:lnTo>
                    <a:pt x="2523109" y="704850"/>
                  </a:lnTo>
                  <a:lnTo>
                    <a:pt x="0" y="704850"/>
                  </a:lnTo>
                  <a:lnTo>
                    <a:pt x="0" y="0"/>
                  </a:lnTo>
                  <a:close/>
                </a:path>
              </a:pathLst>
            </a:custGeom>
            <a:blipFill>
              <a:blip r:embed="rId3"/>
              <a:stretch>
                <a:fillRect l="0" t="-17417" r="0" b="-17966"/>
              </a:stretch>
            </a:blipFill>
          </p:spPr>
        </p:sp>
      </p:grpSp>
    </p:spTree>
  </p:cSld>
  <p:clrMapOvr>
    <a:masterClrMapping/>
  </p:clrMapOvr>
  <p:transition spd="slow">
    <p:push dir="l"/>
  </p:transition>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7068800" cy="1600200"/>
            <a:chOff x="0" y="0"/>
            <a:chExt cx="22758400" cy="2133600"/>
          </a:xfrm>
        </p:grpSpPr>
        <p:sp>
          <p:nvSpPr>
            <p:cNvPr name="Freeform 3" id="3"/>
            <p:cNvSpPr/>
            <p:nvPr/>
          </p:nvSpPr>
          <p:spPr>
            <a:xfrm flipH="false" flipV="false" rot="0">
              <a:off x="0" y="0"/>
              <a:ext cx="22757764" cy="2132838"/>
            </a:xfrm>
            <a:custGeom>
              <a:avLst/>
              <a:gdLst/>
              <a:ahLst/>
              <a:cxnLst/>
              <a:rect r="r" b="b" t="t" l="l"/>
              <a:pathLst>
                <a:path h="2132838" w="22757764">
                  <a:moveTo>
                    <a:pt x="0" y="2132838"/>
                  </a:moveTo>
                  <a:lnTo>
                    <a:pt x="22757764" y="2132838"/>
                  </a:lnTo>
                  <a:lnTo>
                    <a:pt x="22757764" y="0"/>
                  </a:lnTo>
                  <a:lnTo>
                    <a:pt x="0" y="0"/>
                  </a:lnTo>
                  <a:lnTo>
                    <a:pt x="0" y="2132838"/>
                  </a:lnTo>
                  <a:close/>
                </a:path>
              </a:pathLst>
            </a:custGeom>
            <a:solidFill>
              <a:srgbClr val="1D24AD"/>
            </a:solidFill>
          </p:spPr>
        </p:sp>
      </p:grpSp>
      <p:grpSp>
        <p:nvGrpSpPr>
          <p:cNvPr name="Group 4" id="4"/>
          <p:cNvGrpSpPr/>
          <p:nvPr/>
        </p:nvGrpSpPr>
        <p:grpSpPr>
          <a:xfrm rot="0">
            <a:off x="17068800" y="0"/>
            <a:ext cx="1219200" cy="1600200"/>
            <a:chOff x="0" y="0"/>
            <a:chExt cx="1625600" cy="2133600"/>
          </a:xfrm>
        </p:grpSpPr>
        <p:sp>
          <p:nvSpPr>
            <p:cNvPr name="Freeform 5" id="5"/>
            <p:cNvSpPr/>
            <p:nvPr/>
          </p:nvSpPr>
          <p:spPr>
            <a:xfrm flipH="false" flipV="false" rot="0">
              <a:off x="0" y="0"/>
              <a:ext cx="1624584" cy="2132838"/>
            </a:xfrm>
            <a:custGeom>
              <a:avLst/>
              <a:gdLst/>
              <a:ahLst/>
              <a:cxnLst/>
              <a:rect r="r" b="b" t="t" l="l"/>
              <a:pathLst>
                <a:path h="2132838" w="1624584">
                  <a:moveTo>
                    <a:pt x="1624584" y="0"/>
                  </a:moveTo>
                  <a:lnTo>
                    <a:pt x="0" y="0"/>
                  </a:lnTo>
                  <a:lnTo>
                    <a:pt x="0" y="2132838"/>
                  </a:lnTo>
                  <a:lnTo>
                    <a:pt x="1624584" y="2132838"/>
                  </a:lnTo>
                  <a:lnTo>
                    <a:pt x="1624584" y="0"/>
                  </a:lnTo>
                  <a:close/>
                </a:path>
              </a:pathLst>
            </a:custGeom>
            <a:solidFill>
              <a:srgbClr val="E99213"/>
            </a:solidFill>
          </p:spPr>
        </p:sp>
      </p:grpSp>
      <p:grpSp>
        <p:nvGrpSpPr>
          <p:cNvPr name="Group 6" id="6"/>
          <p:cNvGrpSpPr/>
          <p:nvPr/>
        </p:nvGrpSpPr>
        <p:grpSpPr>
          <a:xfrm rot="0">
            <a:off x="17049631" y="-19169"/>
            <a:ext cx="1257538" cy="1638538"/>
            <a:chOff x="0" y="0"/>
            <a:chExt cx="1676718" cy="2184718"/>
          </a:xfrm>
        </p:grpSpPr>
        <p:sp>
          <p:nvSpPr>
            <p:cNvPr name="Freeform 7" id="7"/>
            <p:cNvSpPr/>
            <p:nvPr/>
          </p:nvSpPr>
          <p:spPr>
            <a:xfrm flipH="false" flipV="false" rot="0">
              <a:off x="0" y="0"/>
              <a:ext cx="1675638" cy="2183892"/>
            </a:xfrm>
            <a:custGeom>
              <a:avLst/>
              <a:gdLst/>
              <a:ahLst/>
              <a:cxnLst/>
              <a:rect r="r" b="b" t="t" l="l"/>
              <a:pathLst>
                <a:path h="2183892" w="1675638">
                  <a:moveTo>
                    <a:pt x="25527" y="0"/>
                  </a:moveTo>
                  <a:lnTo>
                    <a:pt x="1650111" y="0"/>
                  </a:lnTo>
                  <a:cubicBezTo>
                    <a:pt x="1664208" y="0"/>
                    <a:pt x="1675638" y="11430"/>
                    <a:pt x="1675638" y="25527"/>
                  </a:cubicBezTo>
                  <a:lnTo>
                    <a:pt x="1675638" y="2158365"/>
                  </a:lnTo>
                  <a:cubicBezTo>
                    <a:pt x="1675638" y="2172462"/>
                    <a:pt x="1664208" y="2183892"/>
                    <a:pt x="1650111" y="2183892"/>
                  </a:cubicBezTo>
                  <a:lnTo>
                    <a:pt x="25527" y="2183892"/>
                  </a:lnTo>
                  <a:cubicBezTo>
                    <a:pt x="11430" y="2183892"/>
                    <a:pt x="0" y="2172462"/>
                    <a:pt x="0" y="2158365"/>
                  </a:cubicBezTo>
                  <a:lnTo>
                    <a:pt x="0" y="25527"/>
                  </a:lnTo>
                  <a:cubicBezTo>
                    <a:pt x="0" y="11430"/>
                    <a:pt x="11430" y="0"/>
                    <a:pt x="25527" y="0"/>
                  </a:cubicBezTo>
                  <a:moveTo>
                    <a:pt x="25527" y="51181"/>
                  </a:moveTo>
                  <a:lnTo>
                    <a:pt x="25527" y="25527"/>
                  </a:lnTo>
                  <a:lnTo>
                    <a:pt x="51181" y="25527"/>
                  </a:lnTo>
                  <a:lnTo>
                    <a:pt x="51181" y="2158365"/>
                  </a:lnTo>
                  <a:lnTo>
                    <a:pt x="25527" y="2158365"/>
                  </a:lnTo>
                  <a:lnTo>
                    <a:pt x="25527" y="2132838"/>
                  </a:lnTo>
                  <a:lnTo>
                    <a:pt x="1650111" y="2132838"/>
                  </a:lnTo>
                  <a:lnTo>
                    <a:pt x="1650111" y="2158365"/>
                  </a:lnTo>
                  <a:lnTo>
                    <a:pt x="1624584" y="2158365"/>
                  </a:lnTo>
                  <a:lnTo>
                    <a:pt x="1624584" y="25527"/>
                  </a:lnTo>
                  <a:lnTo>
                    <a:pt x="1650111" y="25527"/>
                  </a:lnTo>
                  <a:lnTo>
                    <a:pt x="1650111" y="51181"/>
                  </a:lnTo>
                  <a:lnTo>
                    <a:pt x="25527" y="51181"/>
                  </a:lnTo>
                  <a:close/>
                </a:path>
              </a:pathLst>
            </a:custGeom>
            <a:solidFill>
              <a:srgbClr val="E99213"/>
            </a:solidFill>
          </p:spPr>
        </p:sp>
      </p:grpSp>
      <p:grpSp>
        <p:nvGrpSpPr>
          <p:cNvPr name="Group 8" id="8"/>
          <p:cNvGrpSpPr/>
          <p:nvPr/>
        </p:nvGrpSpPr>
        <p:grpSpPr>
          <a:xfrm rot="0">
            <a:off x="0" y="9944100"/>
            <a:ext cx="14325600" cy="142875"/>
            <a:chOff x="0" y="0"/>
            <a:chExt cx="19100800" cy="190500"/>
          </a:xfrm>
        </p:grpSpPr>
        <p:sp>
          <p:nvSpPr>
            <p:cNvPr name="Freeform 9" id="9"/>
            <p:cNvSpPr/>
            <p:nvPr/>
          </p:nvSpPr>
          <p:spPr>
            <a:xfrm flipH="false" flipV="false" rot="0">
              <a:off x="0" y="0"/>
              <a:ext cx="19100419" cy="189484"/>
            </a:xfrm>
            <a:custGeom>
              <a:avLst/>
              <a:gdLst/>
              <a:ahLst/>
              <a:cxnLst/>
              <a:rect r="r" b="b" t="t" l="l"/>
              <a:pathLst>
                <a:path h="189484" w="19100419">
                  <a:moveTo>
                    <a:pt x="19100419" y="0"/>
                  </a:moveTo>
                  <a:lnTo>
                    <a:pt x="0" y="0"/>
                  </a:lnTo>
                  <a:lnTo>
                    <a:pt x="0" y="189484"/>
                  </a:lnTo>
                  <a:lnTo>
                    <a:pt x="19100419" y="189484"/>
                  </a:lnTo>
                  <a:lnTo>
                    <a:pt x="19100419" y="0"/>
                  </a:lnTo>
                  <a:close/>
                </a:path>
              </a:pathLst>
            </a:custGeom>
            <a:solidFill>
              <a:srgbClr val="E99213"/>
            </a:solidFill>
          </p:spPr>
        </p:sp>
      </p:grpSp>
      <p:grpSp>
        <p:nvGrpSpPr>
          <p:cNvPr name="Group 10" id="10"/>
          <p:cNvGrpSpPr/>
          <p:nvPr/>
        </p:nvGrpSpPr>
        <p:grpSpPr>
          <a:xfrm rot="0">
            <a:off x="0" y="9715500"/>
            <a:ext cx="14325600" cy="142875"/>
            <a:chOff x="0" y="0"/>
            <a:chExt cx="19100800" cy="190500"/>
          </a:xfrm>
        </p:grpSpPr>
        <p:sp>
          <p:nvSpPr>
            <p:cNvPr name="Freeform 11" id="11"/>
            <p:cNvSpPr/>
            <p:nvPr/>
          </p:nvSpPr>
          <p:spPr>
            <a:xfrm flipH="false" flipV="false" rot="0">
              <a:off x="0" y="0"/>
              <a:ext cx="19100419" cy="189484"/>
            </a:xfrm>
            <a:custGeom>
              <a:avLst/>
              <a:gdLst/>
              <a:ahLst/>
              <a:cxnLst/>
              <a:rect r="r" b="b" t="t" l="l"/>
              <a:pathLst>
                <a:path h="189484" w="19100419">
                  <a:moveTo>
                    <a:pt x="19100419" y="0"/>
                  </a:moveTo>
                  <a:lnTo>
                    <a:pt x="0" y="0"/>
                  </a:lnTo>
                  <a:lnTo>
                    <a:pt x="0" y="189484"/>
                  </a:lnTo>
                  <a:lnTo>
                    <a:pt x="19100419" y="189484"/>
                  </a:lnTo>
                  <a:lnTo>
                    <a:pt x="19100419" y="0"/>
                  </a:lnTo>
                  <a:close/>
                </a:path>
              </a:pathLst>
            </a:custGeom>
            <a:solidFill>
              <a:srgbClr val="1D24AD"/>
            </a:solidFill>
          </p:spPr>
        </p:sp>
      </p:grpSp>
      <p:grpSp>
        <p:nvGrpSpPr>
          <p:cNvPr name="Group 12" id="12"/>
          <p:cNvGrpSpPr/>
          <p:nvPr/>
        </p:nvGrpSpPr>
        <p:grpSpPr>
          <a:xfrm rot="0">
            <a:off x="16459200" y="9944100"/>
            <a:ext cx="1828800" cy="114300"/>
            <a:chOff x="0" y="0"/>
            <a:chExt cx="2438400" cy="152400"/>
          </a:xfrm>
        </p:grpSpPr>
        <p:sp>
          <p:nvSpPr>
            <p:cNvPr name="Freeform 13" id="13"/>
            <p:cNvSpPr/>
            <p:nvPr/>
          </p:nvSpPr>
          <p:spPr>
            <a:xfrm flipH="false" flipV="false" rot="0">
              <a:off x="0" y="0"/>
              <a:ext cx="2437638" cy="151384"/>
            </a:xfrm>
            <a:custGeom>
              <a:avLst/>
              <a:gdLst/>
              <a:ahLst/>
              <a:cxnLst/>
              <a:rect r="r" b="b" t="t" l="l"/>
              <a:pathLst>
                <a:path h="151384" w="2437638">
                  <a:moveTo>
                    <a:pt x="2437638" y="0"/>
                  </a:moveTo>
                  <a:lnTo>
                    <a:pt x="0" y="0"/>
                  </a:lnTo>
                  <a:lnTo>
                    <a:pt x="0" y="151384"/>
                  </a:lnTo>
                  <a:lnTo>
                    <a:pt x="2437638" y="151384"/>
                  </a:lnTo>
                  <a:lnTo>
                    <a:pt x="2437638" y="0"/>
                  </a:lnTo>
                  <a:close/>
                </a:path>
              </a:pathLst>
            </a:custGeom>
            <a:solidFill>
              <a:srgbClr val="E99213"/>
            </a:solidFill>
          </p:spPr>
        </p:sp>
      </p:grpSp>
      <p:grpSp>
        <p:nvGrpSpPr>
          <p:cNvPr name="Group 14" id="14"/>
          <p:cNvGrpSpPr/>
          <p:nvPr/>
        </p:nvGrpSpPr>
        <p:grpSpPr>
          <a:xfrm rot="0">
            <a:off x="16459200" y="9715500"/>
            <a:ext cx="1828800" cy="114300"/>
            <a:chOff x="0" y="0"/>
            <a:chExt cx="2438400" cy="152400"/>
          </a:xfrm>
        </p:grpSpPr>
        <p:sp>
          <p:nvSpPr>
            <p:cNvPr name="Freeform 15" id="15"/>
            <p:cNvSpPr/>
            <p:nvPr/>
          </p:nvSpPr>
          <p:spPr>
            <a:xfrm flipH="false" flipV="false" rot="0">
              <a:off x="0" y="0"/>
              <a:ext cx="2437638" cy="151384"/>
            </a:xfrm>
            <a:custGeom>
              <a:avLst/>
              <a:gdLst/>
              <a:ahLst/>
              <a:cxnLst/>
              <a:rect r="r" b="b" t="t" l="l"/>
              <a:pathLst>
                <a:path h="151384" w="2437638">
                  <a:moveTo>
                    <a:pt x="2437638" y="0"/>
                  </a:moveTo>
                  <a:lnTo>
                    <a:pt x="0" y="0"/>
                  </a:lnTo>
                  <a:lnTo>
                    <a:pt x="0" y="151384"/>
                  </a:lnTo>
                  <a:lnTo>
                    <a:pt x="2437638" y="151384"/>
                  </a:lnTo>
                  <a:lnTo>
                    <a:pt x="2437638" y="0"/>
                  </a:lnTo>
                  <a:close/>
                </a:path>
              </a:pathLst>
            </a:custGeom>
            <a:solidFill>
              <a:srgbClr val="1D24AD"/>
            </a:solidFill>
          </p:spPr>
        </p:sp>
      </p:grpSp>
      <p:sp>
        <p:nvSpPr>
          <p:cNvPr name="TextBox 16" id="16"/>
          <p:cNvSpPr txBox="true"/>
          <p:nvPr/>
        </p:nvSpPr>
        <p:spPr>
          <a:xfrm rot="0">
            <a:off x="4114800" y="334169"/>
            <a:ext cx="9715500" cy="942308"/>
          </a:xfrm>
          <a:prstGeom prst="rect">
            <a:avLst/>
          </a:prstGeom>
        </p:spPr>
        <p:txBody>
          <a:bodyPr anchor="t" rtlCol="false" tIns="0" lIns="0" bIns="0" rIns="0">
            <a:spAutoFit/>
          </a:bodyPr>
          <a:lstStyle/>
          <a:p>
            <a:pPr algn="ctr">
              <a:lnSpc>
                <a:spcPts val="6480"/>
              </a:lnSpc>
            </a:pPr>
            <a:r>
              <a:rPr lang="en-US" b="true" sz="5400" spc="-15">
                <a:solidFill>
                  <a:srgbClr val="FFFFFF"/>
                </a:solidFill>
                <a:latin typeface="Times New Roman MT Bold"/>
                <a:ea typeface="Times New Roman MT Bold"/>
                <a:cs typeface="Times New Roman MT Bold"/>
                <a:sym typeface="Times New Roman MT Bold"/>
              </a:rPr>
              <a:t>SDG</a:t>
            </a:r>
          </a:p>
        </p:txBody>
      </p:sp>
      <p:graphicFrame>
        <p:nvGraphicFramePr>
          <p:cNvPr name="Object 17" id="17"/>
          <p:cNvGraphicFramePr/>
          <p:nvPr/>
        </p:nvGraphicFramePr>
        <p:xfrm>
          <a:off x="1028700" y="3658405"/>
          <a:ext cx="2514600" cy="2514600"/>
        </p:xfrm>
        <a:graphic>
          <a:graphicData uri="http://schemas.openxmlformats.org/presentationml/2006/ole">
            <p:oleObj imgW="3009900" imgH="30099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grpSp>
        <p:nvGrpSpPr>
          <p:cNvPr name="Group 18" id="18"/>
          <p:cNvGrpSpPr>
            <a:grpSpLocks noChangeAspect="true"/>
          </p:cNvGrpSpPr>
          <p:nvPr/>
        </p:nvGrpSpPr>
        <p:grpSpPr>
          <a:xfrm rot="0">
            <a:off x="14414500" y="9644064"/>
            <a:ext cx="1892299" cy="528638"/>
            <a:chOff x="0" y="0"/>
            <a:chExt cx="2523066" cy="704850"/>
          </a:xfrm>
        </p:grpSpPr>
        <p:sp>
          <p:nvSpPr>
            <p:cNvPr name="Freeform 19" id="19"/>
            <p:cNvSpPr/>
            <p:nvPr/>
          </p:nvSpPr>
          <p:spPr>
            <a:xfrm flipH="false" flipV="false" rot="0">
              <a:off x="0" y="0"/>
              <a:ext cx="2523109" cy="704850"/>
            </a:xfrm>
            <a:custGeom>
              <a:avLst/>
              <a:gdLst/>
              <a:ahLst/>
              <a:cxnLst/>
              <a:rect r="r" b="b" t="t" l="l"/>
              <a:pathLst>
                <a:path h="704850" w="2523109">
                  <a:moveTo>
                    <a:pt x="0" y="0"/>
                  </a:moveTo>
                  <a:lnTo>
                    <a:pt x="2523109" y="0"/>
                  </a:lnTo>
                  <a:lnTo>
                    <a:pt x="2523109" y="704850"/>
                  </a:lnTo>
                  <a:lnTo>
                    <a:pt x="0" y="704850"/>
                  </a:lnTo>
                  <a:lnTo>
                    <a:pt x="0" y="0"/>
                  </a:lnTo>
                  <a:close/>
                </a:path>
              </a:pathLst>
            </a:custGeom>
            <a:blipFill>
              <a:blip r:embed="rId4"/>
              <a:stretch>
                <a:fillRect l="0" t="-17417" r="0" b="-17966"/>
              </a:stretch>
            </a:blipFill>
          </p:spPr>
        </p:sp>
      </p:grpSp>
    </p:spTree>
  </p:cSld>
  <p:clrMapOvr>
    <a:masterClrMapping/>
  </p:clrMapOvr>
  <p:transition spd="slow">
    <p:push dir="l"/>
  </p:transition>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7068800" cy="1600200"/>
            <a:chOff x="0" y="0"/>
            <a:chExt cx="22758400" cy="2133600"/>
          </a:xfrm>
        </p:grpSpPr>
        <p:sp>
          <p:nvSpPr>
            <p:cNvPr name="Freeform 3" id="3"/>
            <p:cNvSpPr/>
            <p:nvPr/>
          </p:nvSpPr>
          <p:spPr>
            <a:xfrm flipH="false" flipV="false" rot="0">
              <a:off x="0" y="0"/>
              <a:ext cx="22757764" cy="2132838"/>
            </a:xfrm>
            <a:custGeom>
              <a:avLst/>
              <a:gdLst/>
              <a:ahLst/>
              <a:cxnLst/>
              <a:rect r="r" b="b" t="t" l="l"/>
              <a:pathLst>
                <a:path h="2132838" w="22757764">
                  <a:moveTo>
                    <a:pt x="0" y="2132838"/>
                  </a:moveTo>
                  <a:lnTo>
                    <a:pt x="22757764" y="2132838"/>
                  </a:lnTo>
                  <a:lnTo>
                    <a:pt x="22757764" y="0"/>
                  </a:lnTo>
                  <a:lnTo>
                    <a:pt x="0" y="0"/>
                  </a:lnTo>
                  <a:lnTo>
                    <a:pt x="0" y="2132838"/>
                  </a:lnTo>
                  <a:close/>
                </a:path>
              </a:pathLst>
            </a:custGeom>
            <a:solidFill>
              <a:srgbClr val="1D24AD"/>
            </a:solidFill>
          </p:spPr>
        </p:sp>
      </p:grpSp>
      <p:grpSp>
        <p:nvGrpSpPr>
          <p:cNvPr name="Group 4" id="4"/>
          <p:cNvGrpSpPr/>
          <p:nvPr/>
        </p:nvGrpSpPr>
        <p:grpSpPr>
          <a:xfrm rot="0">
            <a:off x="17068800" y="0"/>
            <a:ext cx="1219200" cy="1600200"/>
            <a:chOff x="0" y="0"/>
            <a:chExt cx="1625600" cy="2133600"/>
          </a:xfrm>
        </p:grpSpPr>
        <p:sp>
          <p:nvSpPr>
            <p:cNvPr name="Freeform 5" id="5"/>
            <p:cNvSpPr/>
            <p:nvPr/>
          </p:nvSpPr>
          <p:spPr>
            <a:xfrm flipH="false" flipV="false" rot="0">
              <a:off x="0" y="0"/>
              <a:ext cx="1624584" cy="2132838"/>
            </a:xfrm>
            <a:custGeom>
              <a:avLst/>
              <a:gdLst/>
              <a:ahLst/>
              <a:cxnLst/>
              <a:rect r="r" b="b" t="t" l="l"/>
              <a:pathLst>
                <a:path h="2132838" w="1624584">
                  <a:moveTo>
                    <a:pt x="1624584" y="0"/>
                  </a:moveTo>
                  <a:lnTo>
                    <a:pt x="0" y="0"/>
                  </a:lnTo>
                  <a:lnTo>
                    <a:pt x="0" y="2132838"/>
                  </a:lnTo>
                  <a:lnTo>
                    <a:pt x="1624584" y="2132838"/>
                  </a:lnTo>
                  <a:lnTo>
                    <a:pt x="1624584" y="0"/>
                  </a:lnTo>
                  <a:close/>
                </a:path>
              </a:pathLst>
            </a:custGeom>
            <a:solidFill>
              <a:srgbClr val="E99213"/>
            </a:solidFill>
          </p:spPr>
        </p:sp>
      </p:grpSp>
      <p:grpSp>
        <p:nvGrpSpPr>
          <p:cNvPr name="Group 6" id="6"/>
          <p:cNvGrpSpPr/>
          <p:nvPr/>
        </p:nvGrpSpPr>
        <p:grpSpPr>
          <a:xfrm rot="0">
            <a:off x="17049631" y="-19169"/>
            <a:ext cx="1257538" cy="1638538"/>
            <a:chOff x="0" y="0"/>
            <a:chExt cx="1676718" cy="2184718"/>
          </a:xfrm>
        </p:grpSpPr>
        <p:sp>
          <p:nvSpPr>
            <p:cNvPr name="Freeform 7" id="7"/>
            <p:cNvSpPr/>
            <p:nvPr/>
          </p:nvSpPr>
          <p:spPr>
            <a:xfrm flipH="false" flipV="false" rot="0">
              <a:off x="0" y="0"/>
              <a:ext cx="1675638" cy="2183892"/>
            </a:xfrm>
            <a:custGeom>
              <a:avLst/>
              <a:gdLst/>
              <a:ahLst/>
              <a:cxnLst/>
              <a:rect r="r" b="b" t="t" l="l"/>
              <a:pathLst>
                <a:path h="2183892" w="1675638">
                  <a:moveTo>
                    <a:pt x="25527" y="0"/>
                  </a:moveTo>
                  <a:lnTo>
                    <a:pt x="1650111" y="0"/>
                  </a:lnTo>
                  <a:cubicBezTo>
                    <a:pt x="1664208" y="0"/>
                    <a:pt x="1675638" y="11430"/>
                    <a:pt x="1675638" y="25527"/>
                  </a:cubicBezTo>
                  <a:lnTo>
                    <a:pt x="1675638" y="2158365"/>
                  </a:lnTo>
                  <a:cubicBezTo>
                    <a:pt x="1675638" y="2172462"/>
                    <a:pt x="1664208" y="2183892"/>
                    <a:pt x="1650111" y="2183892"/>
                  </a:cubicBezTo>
                  <a:lnTo>
                    <a:pt x="25527" y="2183892"/>
                  </a:lnTo>
                  <a:cubicBezTo>
                    <a:pt x="11430" y="2183892"/>
                    <a:pt x="0" y="2172462"/>
                    <a:pt x="0" y="2158365"/>
                  </a:cubicBezTo>
                  <a:lnTo>
                    <a:pt x="0" y="25527"/>
                  </a:lnTo>
                  <a:cubicBezTo>
                    <a:pt x="0" y="11430"/>
                    <a:pt x="11430" y="0"/>
                    <a:pt x="25527" y="0"/>
                  </a:cubicBezTo>
                  <a:moveTo>
                    <a:pt x="25527" y="51181"/>
                  </a:moveTo>
                  <a:lnTo>
                    <a:pt x="25527" y="25527"/>
                  </a:lnTo>
                  <a:lnTo>
                    <a:pt x="51181" y="25527"/>
                  </a:lnTo>
                  <a:lnTo>
                    <a:pt x="51181" y="2158365"/>
                  </a:lnTo>
                  <a:lnTo>
                    <a:pt x="25527" y="2158365"/>
                  </a:lnTo>
                  <a:lnTo>
                    <a:pt x="25527" y="2132838"/>
                  </a:lnTo>
                  <a:lnTo>
                    <a:pt x="1650111" y="2132838"/>
                  </a:lnTo>
                  <a:lnTo>
                    <a:pt x="1650111" y="2158365"/>
                  </a:lnTo>
                  <a:lnTo>
                    <a:pt x="1624584" y="2158365"/>
                  </a:lnTo>
                  <a:lnTo>
                    <a:pt x="1624584" y="25527"/>
                  </a:lnTo>
                  <a:lnTo>
                    <a:pt x="1650111" y="25527"/>
                  </a:lnTo>
                  <a:lnTo>
                    <a:pt x="1650111" y="51181"/>
                  </a:lnTo>
                  <a:lnTo>
                    <a:pt x="25527" y="51181"/>
                  </a:lnTo>
                  <a:close/>
                </a:path>
              </a:pathLst>
            </a:custGeom>
            <a:solidFill>
              <a:srgbClr val="E99213"/>
            </a:solidFill>
          </p:spPr>
        </p:sp>
      </p:grpSp>
      <p:grpSp>
        <p:nvGrpSpPr>
          <p:cNvPr name="Group 8" id="8"/>
          <p:cNvGrpSpPr/>
          <p:nvPr/>
        </p:nvGrpSpPr>
        <p:grpSpPr>
          <a:xfrm rot="0">
            <a:off x="0" y="9944100"/>
            <a:ext cx="14325600" cy="142875"/>
            <a:chOff x="0" y="0"/>
            <a:chExt cx="19100800" cy="190500"/>
          </a:xfrm>
        </p:grpSpPr>
        <p:sp>
          <p:nvSpPr>
            <p:cNvPr name="Freeform 9" id="9"/>
            <p:cNvSpPr/>
            <p:nvPr/>
          </p:nvSpPr>
          <p:spPr>
            <a:xfrm flipH="false" flipV="false" rot="0">
              <a:off x="0" y="0"/>
              <a:ext cx="19100419" cy="189484"/>
            </a:xfrm>
            <a:custGeom>
              <a:avLst/>
              <a:gdLst/>
              <a:ahLst/>
              <a:cxnLst/>
              <a:rect r="r" b="b" t="t" l="l"/>
              <a:pathLst>
                <a:path h="189484" w="19100419">
                  <a:moveTo>
                    <a:pt x="19100419" y="0"/>
                  </a:moveTo>
                  <a:lnTo>
                    <a:pt x="0" y="0"/>
                  </a:lnTo>
                  <a:lnTo>
                    <a:pt x="0" y="189484"/>
                  </a:lnTo>
                  <a:lnTo>
                    <a:pt x="19100419" y="189484"/>
                  </a:lnTo>
                  <a:lnTo>
                    <a:pt x="19100419" y="0"/>
                  </a:lnTo>
                  <a:close/>
                </a:path>
              </a:pathLst>
            </a:custGeom>
            <a:solidFill>
              <a:srgbClr val="E99213"/>
            </a:solidFill>
          </p:spPr>
        </p:sp>
      </p:grpSp>
      <p:grpSp>
        <p:nvGrpSpPr>
          <p:cNvPr name="Group 10" id="10"/>
          <p:cNvGrpSpPr/>
          <p:nvPr/>
        </p:nvGrpSpPr>
        <p:grpSpPr>
          <a:xfrm rot="0">
            <a:off x="0" y="9715500"/>
            <a:ext cx="14325600" cy="142875"/>
            <a:chOff x="0" y="0"/>
            <a:chExt cx="19100800" cy="190500"/>
          </a:xfrm>
        </p:grpSpPr>
        <p:sp>
          <p:nvSpPr>
            <p:cNvPr name="Freeform 11" id="11"/>
            <p:cNvSpPr/>
            <p:nvPr/>
          </p:nvSpPr>
          <p:spPr>
            <a:xfrm flipH="false" flipV="false" rot="0">
              <a:off x="0" y="0"/>
              <a:ext cx="19100419" cy="189484"/>
            </a:xfrm>
            <a:custGeom>
              <a:avLst/>
              <a:gdLst/>
              <a:ahLst/>
              <a:cxnLst/>
              <a:rect r="r" b="b" t="t" l="l"/>
              <a:pathLst>
                <a:path h="189484" w="19100419">
                  <a:moveTo>
                    <a:pt x="19100419" y="0"/>
                  </a:moveTo>
                  <a:lnTo>
                    <a:pt x="0" y="0"/>
                  </a:lnTo>
                  <a:lnTo>
                    <a:pt x="0" y="189484"/>
                  </a:lnTo>
                  <a:lnTo>
                    <a:pt x="19100419" y="189484"/>
                  </a:lnTo>
                  <a:lnTo>
                    <a:pt x="19100419" y="0"/>
                  </a:lnTo>
                  <a:close/>
                </a:path>
              </a:pathLst>
            </a:custGeom>
            <a:solidFill>
              <a:srgbClr val="1D24AD"/>
            </a:solidFill>
          </p:spPr>
        </p:sp>
      </p:grpSp>
      <p:grpSp>
        <p:nvGrpSpPr>
          <p:cNvPr name="Group 12" id="12"/>
          <p:cNvGrpSpPr/>
          <p:nvPr/>
        </p:nvGrpSpPr>
        <p:grpSpPr>
          <a:xfrm rot="0">
            <a:off x="16459200" y="9944100"/>
            <a:ext cx="1828800" cy="114300"/>
            <a:chOff x="0" y="0"/>
            <a:chExt cx="2438400" cy="152400"/>
          </a:xfrm>
        </p:grpSpPr>
        <p:sp>
          <p:nvSpPr>
            <p:cNvPr name="Freeform 13" id="13"/>
            <p:cNvSpPr/>
            <p:nvPr/>
          </p:nvSpPr>
          <p:spPr>
            <a:xfrm flipH="false" flipV="false" rot="0">
              <a:off x="0" y="0"/>
              <a:ext cx="2437638" cy="151384"/>
            </a:xfrm>
            <a:custGeom>
              <a:avLst/>
              <a:gdLst/>
              <a:ahLst/>
              <a:cxnLst/>
              <a:rect r="r" b="b" t="t" l="l"/>
              <a:pathLst>
                <a:path h="151384" w="2437638">
                  <a:moveTo>
                    <a:pt x="2437638" y="0"/>
                  </a:moveTo>
                  <a:lnTo>
                    <a:pt x="0" y="0"/>
                  </a:lnTo>
                  <a:lnTo>
                    <a:pt x="0" y="151384"/>
                  </a:lnTo>
                  <a:lnTo>
                    <a:pt x="2437638" y="151384"/>
                  </a:lnTo>
                  <a:lnTo>
                    <a:pt x="2437638" y="0"/>
                  </a:lnTo>
                  <a:close/>
                </a:path>
              </a:pathLst>
            </a:custGeom>
            <a:solidFill>
              <a:srgbClr val="E99213"/>
            </a:solidFill>
          </p:spPr>
        </p:sp>
      </p:grpSp>
      <p:grpSp>
        <p:nvGrpSpPr>
          <p:cNvPr name="Group 14" id="14"/>
          <p:cNvGrpSpPr/>
          <p:nvPr/>
        </p:nvGrpSpPr>
        <p:grpSpPr>
          <a:xfrm rot="0">
            <a:off x="16459200" y="9715500"/>
            <a:ext cx="1828800" cy="114300"/>
            <a:chOff x="0" y="0"/>
            <a:chExt cx="2438400" cy="152400"/>
          </a:xfrm>
        </p:grpSpPr>
        <p:sp>
          <p:nvSpPr>
            <p:cNvPr name="Freeform 15" id="15"/>
            <p:cNvSpPr/>
            <p:nvPr/>
          </p:nvSpPr>
          <p:spPr>
            <a:xfrm flipH="false" flipV="false" rot="0">
              <a:off x="0" y="0"/>
              <a:ext cx="2437638" cy="151384"/>
            </a:xfrm>
            <a:custGeom>
              <a:avLst/>
              <a:gdLst/>
              <a:ahLst/>
              <a:cxnLst/>
              <a:rect r="r" b="b" t="t" l="l"/>
              <a:pathLst>
                <a:path h="151384" w="2437638">
                  <a:moveTo>
                    <a:pt x="2437638" y="0"/>
                  </a:moveTo>
                  <a:lnTo>
                    <a:pt x="0" y="0"/>
                  </a:lnTo>
                  <a:lnTo>
                    <a:pt x="0" y="151384"/>
                  </a:lnTo>
                  <a:lnTo>
                    <a:pt x="2437638" y="151384"/>
                  </a:lnTo>
                  <a:lnTo>
                    <a:pt x="2437638" y="0"/>
                  </a:lnTo>
                  <a:close/>
                </a:path>
              </a:pathLst>
            </a:custGeom>
            <a:solidFill>
              <a:srgbClr val="1D24AD"/>
            </a:solidFill>
          </p:spPr>
        </p:sp>
      </p:grpSp>
      <p:sp>
        <p:nvSpPr>
          <p:cNvPr name="TextBox 16" id="16"/>
          <p:cNvSpPr txBox="true"/>
          <p:nvPr/>
        </p:nvSpPr>
        <p:spPr>
          <a:xfrm rot="0">
            <a:off x="3180300" y="514350"/>
            <a:ext cx="11927401" cy="923925"/>
          </a:xfrm>
          <a:prstGeom prst="rect">
            <a:avLst/>
          </a:prstGeom>
        </p:spPr>
        <p:txBody>
          <a:bodyPr anchor="t" rtlCol="false" tIns="0" lIns="0" bIns="0" rIns="0">
            <a:spAutoFit/>
          </a:bodyPr>
          <a:lstStyle/>
          <a:p>
            <a:pPr algn="ctr">
              <a:lnSpc>
                <a:spcPts val="6480"/>
              </a:lnSpc>
            </a:pPr>
            <a:r>
              <a:rPr lang="en-US" b="true" sz="5400" spc="-7">
                <a:solidFill>
                  <a:srgbClr val="FFFFFF"/>
                </a:solidFill>
                <a:latin typeface="Times New Roman MT Bold"/>
                <a:ea typeface="Times New Roman MT Bold"/>
                <a:cs typeface="Times New Roman MT Bold"/>
                <a:sym typeface="Times New Roman MT Bold"/>
              </a:rPr>
              <a:t>Feasibility and Cost Analysis</a:t>
            </a:r>
          </a:p>
        </p:txBody>
      </p:sp>
      <p:grpSp>
        <p:nvGrpSpPr>
          <p:cNvPr name="Group 17" id="17"/>
          <p:cNvGrpSpPr>
            <a:grpSpLocks noChangeAspect="true"/>
          </p:cNvGrpSpPr>
          <p:nvPr/>
        </p:nvGrpSpPr>
        <p:grpSpPr>
          <a:xfrm rot="0">
            <a:off x="14414500" y="9644064"/>
            <a:ext cx="1892299" cy="528638"/>
            <a:chOff x="0" y="0"/>
            <a:chExt cx="2523066" cy="704850"/>
          </a:xfrm>
        </p:grpSpPr>
        <p:sp>
          <p:nvSpPr>
            <p:cNvPr name="Freeform 18" id="18"/>
            <p:cNvSpPr/>
            <p:nvPr/>
          </p:nvSpPr>
          <p:spPr>
            <a:xfrm flipH="false" flipV="false" rot="0">
              <a:off x="0" y="0"/>
              <a:ext cx="2523109" cy="704850"/>
            </a:xfrm>
            <a:custGeom>
              <a:avLst/>
              <a:gdLst/>
              <a:ahLst/>
              <a:cxnLst/>
              <a:rect r="r" b="b" t="t" l="l"/>
              <a:pathLst>
                <a:path h="704850" w="2523109">
                  <a:moveTo>
                    <a:pt x="0" y="0"/>
                  </a:moveTo>
                  <a:lnTo>
                    <a:pt x="2523109" y="0"/>
                  </a:lnTo>
                  <a:lnTo>
                    <a:pt x="2523109" y="704850"/>
                  </a:lnTo>
                  <a:lnTo>
                    <a:pt x="0" y="704850"/>
                  </a:lnTo>
                  <a:lnTo>
                    <a:pt x="0" y="0"/>
                  </a:lnTo>
                  <a:close/>
                </a:path>
              </a:pathLst>
            </a:custGeom>
            <a:blipFill>
              <a:blip r:embed="rId2"/>
              <a:stretch>
                <a:fillRect l="0" t="-17417" r="0" b="-17966"/>
              </a:stretch>
            </a:blipFill>
          </p:spPr>
        </p:sp>
      </p:grpSp>
      <p:grpSp>
        <p:nvGrpSpPr>
          <p:cNvPr name="Group 19" id="19"/>
          <p:cNvGrpSpPr/>
          <p:nvPr/>
        </p:nvGrpSpPr>
        <p:grpSpPr>
          <a:xfrm rot="0">
            <a:off x="1028700" y="1438275"/>
            <a:ext cx="16657667" cy="8916498"/>
            <a:chOff x="0" y="0"/>
            <a:chExt cx="21465291" cy="11489917"/>
          </a:xfrm>
        </p:grpSpPr>
        <p:sp>
          <p:nvSpPr>
            <p:cNvPr name="Freeform 20" id="20"/>
            <p:cNvSpPr/>
            <p:nvPr/>
          </p:nvSpPr>
          <p:spPr>
            <a:xfrm flipH="false" flipV="false" rot="0">
              <a:off x="0" y="0"/>
              <a:ext cx="21465291" cy="11489916"/>
            </a:xfrm>
            <a:custGeom>
              <a:avLst/>
              <a:gdLst/>
              <a:ahLst/>
              <a:cxnLst/>
              <a:rect r="r" b="b" t="t" l="l"/>
              <a:pathLst>
                <a:path h="11489916" w="21465291">
                  <a:moveTo>
                    <a:pt x="0" y="0"/>
                  </a:moveTo>
                  <a:lnTo>
                    <a:pt x="21465291" y="0"/>
                  </a:lnTo>
                  <a:lnTo>
                    <a:pt x="21465291" y="11489916"/>
                  </a:lnTo>
                  <a:lnTo>
                    <a:pt x="0" y="11489916"/>
                  </a:lnTo>
                  <a:close/>
                </a:path>
              </a:pathLst>
            </a:custGeom>
            <a:solidFill>
              <a:srgbClr val="000000">
                <a:alpha val="0"/>
              </a:srgbClr>
            </a:solidFill>
          </p:spPr>
        </p:sp>
        <p:sp>
          <p:nvSpPr>
            <p:cNvPr name="TextBox 21" id="21"/>
            <p:cNvSpPr txBox="true"/>
            <p:nvPr/>
          </p:nvSpPr>
          <p:spPr>
            <a:xfrm>
              <a:off x="0" y="-76200"/>
              <a:ext cx="21465291" cy="11566117"/>
            </a:xfrm>
            <a:prstGeom prst="rect">
              <a:avLst/>
            </a:prstGeom>
          </p:spPr>
          <p:txBody>
            <a:bodyPr anchor="ctr" rtlCol="false" tIns="0" lIns="0" bIns="0" rIns="0"/>
            <a:lstStyle/>
            <a:p>
              <a:pPr algn="l">
                <a:lnSpc>
                  <a:spcPts val="4560"/>
                </a:lnSpc>
              </a:pPr>
              <a:r>
                <a:rPr lang="en-US" sz="3800" b="true">
                  <a:solidFill>
                    <a:srgbClr val="000000"/>
                  </a:solidFill>
                  <a:latin typeface="Calibri (MS) Bold"/>
                  <a:ea typeface="Calibri (MS) Bold"/>
                  <a:cs typeface="Calibri (MS) Bold"/>
                  <a:sym typeface="Calibri (MS) Bold"/>
                </a:rPr>
                <a:t>How feasible is wireless transmission? </a:t>
              </a:r>
            </a:p>
            <a:p>
              <a:pPr algn="just" marL="604521" indent="-302261" lvl="1">
                <a:lnSpc>
                  <a:spcPts val="3360"/>
                </a:lnSpc>
                <a:buFont typeface="Arial"/>
                <a:buChar char="•"/>
              </a:pPr>
              <a:r>
                <a:rPr lang="en-US" sz="2800">
                  <a:solidFill>
                    <a:srgbClr val="000000"/>
                  </a:solidFill>
                  <a:latin typeface="Calibri (MS)"/>
                  <a:ea typeface="Calibri (MS)"/>
                  <a:cs typeface="Calibri (MS)"/>
                  <a:sym typeface="Calibri (MS)"/>
                </a:rPr>
                <a:t>Proven pilots: Sweden (Gotland, 1.65 km) showed trucks charged while driving with &gt;85% efficiency; Israel (Tel Aviv) and South Korea (Gumi buses) also operate real segments.</a:t>
              </a:r>
            </a:p>
            <a:p>
              <a:pPr algn="just" marL="604521" indent="-302261" lvl="1">
                <a:lnSpc>
                  <a:spcPts val="3360"/>
                </a:lnSpc>
                <a:buFont typeface="Arial"/>
                <a:buChar char="•"/>
              </a:pPr>
              <a:r>
                <a:rPr lang="en-US" sz="2800">
                  <a:solidFill>
                    <a:srgbClr val="000000"/>
                  </a:solidFill>
                  <a:latin typeface="Calibri (MS)"/>
                  <a:ea typeface="Calibri (MS)"/>
                  <a:cs typeface="Calibri (MS)"/>
                  <a:sym typeface="Calibri (MS)"/>
                </a:rPr>
                <a:t>Economic studies: Research (KAIST, eRoadArlanda, Electreon pilots) show payback periods of ~5–7 years are possible if deployed at scale, though upfront costs (₹15–30 Cr/km vs ₹10–20 Cr/km for normal roads) are high.</a:t>
              </a:r>
            </a:p>
            <a:p>
              <a:pPr algn="just" marL="604521" indent="-302261" lvl="1">
                <a:lnSpc>
                  <a:spcPts val="3360"/>
                </a:lnSpc>
                <a:buFont typeface="Arial"/>
                <a:buChar char="•"/>
              </a:pPr>
              <a:r>
                <a:rPr lang="en-US" sz="2800">
                  <a:solidFill>
                    <a:srgbClr val="000000"/>
                  </a:solidFill>
                  <a:latin typeface="Calibri (MS)"/>
                  <a:ea typeface="Calibri (MS)"/>
                  <a:cs typeface="Calibri (MS)"/>
                  <a:sym typeface="Calibri (MS)"/>
                </a:rPr>
                <a:t>Challenges: High infrastructure cost, standardization, and scaling to highways.</a:t>
              </a:r>
            </a:p>
            <a:p>
              <a:pPr algn="just" marL="604521" indent="-302261" lvl="1">
                <a:lnSpc>
                  <a:spcPts val="3360"/>
                </a:lnSpc>
                <a:buFont typeface="Arial"/>
                <a:buChar char="•"/>
              </a:pPr>
              <a:r>
                <a:rPr lang="en-US" sz="2800">
                  <a:solidFill>
                    <a:srgbClr val="000000"/>
                  </a:solidFill>
                  <a:latin typeface="Calibri (MS)"/>
                  <a:ea typeface="Calibri (MS)"/>
                  <a:cs typeface="Calibri (MS)"/>
                  <a:sym typeface="Calibri (MS)"/>
                </a:rPr>
                <a:t>Opportunity: Reduces range anxiety, enables smaller batteries, and increases EV adoption.</a:t>
              </a:r>
            </a:p>
            <a:p>
              <a:pPr algn="just">
                <a:lnSpc>
                  <a:spcPts val="4560"/>
                </a:lnSpc>
              </a:pPr>
              <a:r>
                <a:rPr lang="en-US" sz="3800" b="true">
                  <a:solidFill>
                    <a:srgbClr val="000000"/>
                  </a:solidFill>
                  <a:latin typeface="Calibri (MS) Bold"/>
                  <a:ea typeface="Calibri (MS) Bold"/>
                  <a:cs typeface="Calibri (MS) Bold"/>
                  <a:sym typeface="Calibri (MS) Bold"/>
                </a:rPr>
                <a:t>Cost analysis</a:t>
              </a:r>
            </a:p>
            <a:p>
              <a:pPr algn="just">
                <a:lnSpc>
                  <a:spcPts val="3360"/>
                </a:lnSpc>
              </a:pPr>
              <a:r>
                <a:rPr lang="en-US" sz="2800">
                  <a:solidFill>
                    <a:srgbClr val="000000"/>
                  </a:solidFill>
                  <a:latin typeface="Calibri (MS)"/>
                  <a:ea typeface="Calibri (MS)"/>
                  <a:cs typeface="Calibri (MS)"/>
                  <a:sym typeface="Calibri (MS)"/>
                </a:rPr>
                <a:t>Metro Rail Construction Costs</a:t>
              </a:r>
            </a:p>
            <a:p>
              <a:pPr algn="just" marL="604521" indent="-302261" lvl="1">
                <a:lnSpc>
                  <a:spcPts val="3360"/>
                </a:lnSpc>
                <a:buFont typeface="Arial"/>
                <a:buChar char="•"/>
              </a:pPr>
              <a:r>
                <a:rPr lang="en-US" sz="2800">
                  <a:solidFill>
                    <a:srgbClr val="000000"/>
                  </a:solidFill>
                  <a:latin typeface="Calibri (MS)"/>
                  <a:ea typeface="Calibri (MS)"/>
                  <a:cs typeface="Calibri (MS)"/>
                  <a:sym typeface="Calibri (MS)"/>
                </a:rPr>
                <a:t>Elevated Metro: ₹150–300 crore/km</a:t>
              </a:r>
            </a:p>
            <a:p>
              <a:pPr algn="just" marL="604521" indent="-302261" lvl="1">
                <a:lnSpc>
                  <a:spcPts val="3360"/>
                </a:lnSpc>
                <a:buFont typeface="Arial"/>
                <a:buChar char="•"/>
              </a:pPr>
              <a:r>
                <a:rPr lang="en-US" sz="2800">
                  <a:solidFill>
                    <a:srgbClr val="000000"/>
                  </a:solidFill>
                  <a:latin typeface="Calibri (MS)"/>
                  <a:ea typeface="Calibri (MS)"/>
                  <a:cs typeface="Calibri (MS)"/>
                  <a:sym typeface="Calibri (MS)"/>
                </a:rPr>
                <a:t>Underground Metro: ₹250–500 crore/km</a:t>
              </a:r>
            </a:p>
            <a:p>
              <a:pPr algn="just" marL="604521" indent="-302261" lvl="1">
                <a:lnSpc>
                  <a:spcPts val="3360"/>
                </a:lnSpc>
                <a:buFont typeface="Arial"/>
                <a:buChar char="•"/>
              </a:pPr>
              <a:r>
                <a:rPr lang="en-US" sz="2800">
                  <a:solidFill>
                    <a:srgbClr val="000000"/>
                  </a:solidFill>
                  <a:latin typeface="Calibri (MS)"/>
                  <a:ea typeface="Calibri (MS)"/>
                  <a:cs typeface="Calibri (MS)"/>
                  <a:sym typeface="Calibri (MS)"/>
                </a:rPr>
                <a:t>Example: Bengaluru Metro Phase 3A: ₹776 crore/km </a:t>
              </a:r>
              <a:r>
                <a:rPr lang="en-US" sz="2800" u="sng">
                  <a:solidFill>
                    <a:srgbClr val="000000"/>
                  </a:solidFill>
                  <a:latin typeface="Calibri (MS)"/>
                  <a:ea typeface="Calibri (MS)"/>
                  <a:cs typeface="Calibri (MS)"/>
                  <a:sym typeface="Calibri (MS)"/>
                  <a:hlinkClick r:id="rId3" tooltip="https://www.deccanherald.com/india/karnataka/bengaluru/metro-ph-3a-to-cost-rs-28-405-cr-35-funded-by-loans-3080860?utm_source=chatgpt.com"/>
                </a:rPr>
                <a:t>Deccan Herald</a:t>
              </a:r>
            </a:p>
            <a:p>
              <a:pPr algn="just">
                <a:lnSpc>
                  <a:spcPts val="3360"/>
                </a:lnSpc>
              </a:pPr>
              <a:r>
                <a:rPr lang="en-US" sz="2800">
                  <a:solidFill>
                    <a:srgbClr val="000000"/>
                  </a:solidFill>
                  <a:latin typeface="Calibri (MS)"/>
                  <a:ea typeface="Calibri (MS)"/>
                  <a:cs typeface="Calibri (MS)"/>
                  <a:sym typeface="Calibri (MS)"/>
                </a:rPr>
                <a:t> Dynamic MR Charging Infrastructure Costs</a:t>
              </a:r>
            </a:p>
            <a:p>
              <a:pPr algn="just" marL="604521" indent="-302261" lvl="1">
                <a:lnSpc>
                  <a:spcPts val="3360"/>
                </a:lnSpc>
                <a:buFont typeface="Arial"/>
                <a:buChar char="•"/>
              </a:pPr>
              <a:r>
                <a:rPr lang="en-US" sz="2800">
                  <a:solidFill>
                    <a:srgbClr val="000000"/>
                  </a:solidFill>
                  <a:latin typeface="Calibri (MS)"/>
                  <a:ea typeface="Calibri (MS)"/>
                  <a:cs typeface="Calibri (MS)"/>
                  <a:sym typeface="Calibri (MS)"/>
                </a:rPr>
                <a:t>Global Estimate: ~₹16.6 crore/km (based on $2 million/lane-km) </a:t>
              </a:r>
              <a:r>
                <a:rPr lang="en-US" sz="2800" u="sng">
                  <a:solidFill>
                    <a:srgbClr val="000000"/>
                  </a:solidFill>
                  <a:latin typeface="Calibri (MS)"/>
                  <a:ea typeface="Calibri (MS)"/>
                  <a:cs typeface="Calibri (MS)"/>
                  <a:sym typeface="Calibri (MS)"/>
                  <a:hlinkClick r:id="rId4" tooltip="https://www.railway-technology.com/features/the-most-expensive-rail-construction-projects-in-2023/?utm_source=chatgpt.com"/>
                </a:rPr>
                <a:t>Railway Technology</a:t>
              </a:r>
            </a:p>
            <a:p>
              <a:pPr algn="just" marL="604521" indent="-302261" lvl="1">
                <a:lnSpc>
                  <a:spcPts val="3360"/>
                </a:lnSpc>
                <a:buFont typeface="Arial"/>
                <a:buChar char="•"/>
              </a:pPr>
              <a:r>
                <a:rPr lang="en-US" sz="2800">
                  <a:solidFill>
                    <a:srgbClr val="000000"/>
                  </a:solidFill>
                  <a:latin typeface="Calibri (MS)"/>
                  <a:ea typeface="Calibri (MS)"/>
                  <a:cs typeface="Calibri (MS)"/>
                  <a:sym typeface="Calibri (MS)"/>
                </a:rPr>
                <a:t>ROI Consideration: Dynamic charging can reduce EV battery size and charging time, potentially lowering operational costs.</a:t>
              </a:r>
            </a:p>
            <a:p>
              <a:pPr algn="just">
                <a:lnSpc>
                  <a:spcPts val="3360"/>
                </a:lnSpc>
              </a:pPr>
            </a:p>
          </p:txBody>
        </p:sp>
      </p:grpSp>
    </p:spTree>
  </p:cSld>
  <p:clrMapOvr>
    <a:masterClrMapping/>
  </p:clrMapOvr>
  <p:transition spd="slow">
    <p:push dir="l"/>
  </p:transition>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7068800" cy="1600200"/>
            <a:chOff x="0" y="0"/>
            <a:chExt cx="22758400" cy="2133600"/>
          </a:xfrm>
        </p:grpSpPr>
        <p:sp>
          <p:nvSpPr>
            <p:cNvPr name="Freeform 3" id="3"/>
            <p:cNvSpPr/>
            <p:nvPr/>
          </p:nvSpPr>
          <p:spPr>
            <a:xfrm flipH="false" flipV="false" rot="0">
              <a:off x="0" y="0"/>
              <a:ext cx="22757764" cy="2132838"/>
            </a:xfrm>
            <a:custGeom>
              <a:avLst/>
              <a:gdLst/>
              <a:ahLst/>
              <a:cxnLst/>
              <a:rect r="r" b="b" t="t" l="l"/>
              <a:pathLst>
                <a:path h="2132838" w="22757764">
                  <a:moveTo>
                    <a:pt x="0" y="2132838"/>
                  </a:moveTo>
                  <a:lnTo>
                    <a:pt x="22757764" y="2132838"/>
                  </a:lnTo>
                  <a:lnTo>
                    <a:pt x="22757764" y="0"/>
                  </a:lnTo>
                  <a:lnTo>
                    <a:pt x="0" y="0"/>
                  </a:lnTo>
                  <a:lnTo>
                    <a:pt x="0" y="2132838"/>
                  </a:lnTo>
                  <a:close/>
                </a:path>
              </a:pathLst>
            </a:custGeom>
            <a:solidFill>
              <a:srgbClr val="1D24AD"/>
            </a:solidFill>
          </p:spPr>
        </p:sp>
      </p:grpSp>
      <p:grpSp>
        <p:nvGrpSpPr>
          <p:cNvPr name="Group 4" id="4"/>
          <p:cNvGrpSpPr/>
          <p:nvPr/>
        </p:nvGrpSpPr>
        <p:grpSpPr>
          <a:xfrm rot="0">
            <a:off x="17068800" y="0"/>
            <a:ext cx="1219200" cy="1600200"/>
            <a:chOff x="0" y="0"/>
            <a:chExt cx="1625600" cy="2133600"/>
          </a:xfrm>
        </p:grpSpPr>
        <p:sp>
          <p:nvSpPr>
            <p:cNvPr name="Freeform 5" id="5"/>
            <p:cNvSpPr/>
            <p:nvPr/>
          </p:nvSpPr>
          <p:spPr>
            <a:xfrm flipH="false" flipV="false" rot="0">
              <a:off x="0" y="0"/>
              <a:ext cx="1624584" cy="2132838"/>
            </a:xfrm>
            <a:custGeom>
              <a:avLst/>
              <a:gdLst/>
              <a:ahLst/>
              <a:cxnLst/>
              <a:rect r="r" b="b" t="t" l="l"/>
              <a:pathLst>
                <a:path h="2132838" w="1624584">
                  <a:moveTo>
                    <a:pt x="1624584" y="0"/>
                  </a:moveTo>
                  <a:lnTo>
                    <a:pt x="0" y="0"/>
                  </a:lnTo>
                  <a:lnTo>
                    <a:pt x="0" y="2132838"/>
                  </a:lnTo>
                  <a:lnTo>
                    <a:pt x="1624584" y="2132838"/>
                  </a:lnTo>
                  <a:lnTo>
                    <a:pt x="1624584" y="0"/>
                  </a:lnTo>
                  <a:close/>
                </a:path>
              </a:pathLst>
            </a:custGeom>
            <a:solidFill>
              <a:srgbClr val="E99213"/>
            </a:solidFill>
          </p:spPr>
        </p:sp>
      </p:grpSp>
      <p:grpSp>
        <p:nvGrpSpPr>
          <p:cNvPr name="Group 6" id="6"/>
          <p:cNvGrpSpPr/>
          <p:nvPr/>
        </p:nvGrpSpPr>
        <p:grpSpPr>
          <a:xfrm rot="0">
            <a:off x="17049631" y="-19169"/>
            <a:ext cx="1257538" cy="1638538"/>
            <a:chOff x="0" y="0"/>
            <a:chExt cx="1676718" cy="2184718"/>
          </a:xfrm>
        </p:grpSpPr>
        <p:sp>
          <p:nvSpPr>
            <p:cNvPr name="Freeform 7" id="7"/>
            <p:cNvSpPr/>
            <p:nvPr/>
          </p:nvSpPr>
          <p:spPr>
            <a:xfrm flipH="false" flipV="false" rot="0">
              <a:off x="0" y="0"/>
              <a:ext cx="1675638" cy="2183892"/>
            </a:xfrm>
            <a:custGeom>
              <a:avLst/>
              <a:gdLst/>
              <a:ahLst/>
              <a:cxnLst/>
              <a:rect r="r" b="b" t="t" l="l"/>
              <a:pathLst>
                <a:path h="2183892" w="1675638">
                  <a:moveTo>
                    <a:pt x="25527" y="0"/>
                  </a:moveTo>
                  <a:lnTo>
                    <a:pt x="1650111" y="0"/>
                  </a:lnTo>
                  <a:cubicBezTo>
                    <a:pt x="1664208" y="0"/>
                    <a:pt x="1675638" y="11430"/>
                    <a:pt x="1675638" y="25527"/>
                  </a:cubicBezTo>
                  <a:lnTo>
                    <a:pt x="1675638" y="2158365"/>
                  </a:lnTo>
                  <a:cubicBezTo>
                    <a:pt x="1675638" y="2172462"/>
                    <a:pt x="1664208" y="2183892"/>
                    <a:pt x="1650111" y="2183892"/>
                  </a:cubicBezTo>
                  <a:lnTo>
                    <a:pt x="25527" y="2183892"/>
                  </a:lnTo>
                  <a:cubicBezTo>
                    <a:pt x="11430" y="2183892"/>
                    <a:pt x="0" y="2172462"/>
                    <a:pt x="0" y="2158365"/>
                  </a:cubicBezTo>
                  <a:lnTo>
                    <a:pt x="0" y="25527"/>
                  </a:lnTo>
                  <a:cubicBezTo>
                    <a:pt x="0" y="11430"/>
                    <a:pt x="11430" y="0"/>
                    <a:pt x="25527" y="0"/>
                  </a:cubicBezTo>
                  <a:moveTo>
                    <a:pt x="25527" y="51181"/>
                  </a:moveTo>
                  <a:lnTo>
                    <a:pt x="25527" y="25527"/>
                  </a:lnTo>
                  <a:lnTo>
                    <a:pt x="51181" y="25527"/>
                  </a:lnTo>
                  <a:lnTo>
                    <a:pt x="51181" y="2158365"/>
                  </a:lnTo>
                  <a:lnTo>
                    <a:pt x="25527" y="2158365"/>
                  </a:lnTo>
                  <a:lnTo>
                    <a:pt x="25527" y="2132838"/>
                  </a:lnTo>
                  <a:lnTo>
                    <a:pt x="1650111" y="2132838"/>
                  </a:lnTo>
                  <a:lnTo>
                    <a:pt x="1650111" y="2158365"/>
                  </a:lnTo>
                  <a:lnTo>
                    <a:pt x="1624584" y="2158365"/>
                  </a:lnTo>
                  <a:lnTo>
                    <a:pt x="1624584" y="25527"/>
                  </a:lnTo>
                  <a:lnTo>
                    <a:pt x="1650111" y="25527"/>
                  </a:lnTo>
                  <a:lnTo>
                    <a:pt x="1650111" y="51181"/>
                  </a:lnTo>
                  <a:lnTo>
                    <a:pt x="25527" y="51181"/>
                  </a:lnTo>
                  <a:close/>
                </a:path>
              </a:pathLst>
            </a:custGeom>
            <a:solidFill>
              <a:srgbClr val="E99213"/>
            </a:solidFill>
          </p:spPr>
        </p:sp>
      </p:grpSp>
      <p:grpSp>
        <p:nvGrpSpPr>
          <p:cNvPr name="Group 8" id="8"/>
          <p:cNvGrpSpPr/>
          <p:nvPr/>
        </p:nvGrpSpPr>
        <p:grpSpPr>
          <a:xfrm rot="0">
            <a:off x="0" y="9944100"/>
            <a:ext cx="14325600" cy="142875"/>
            <a:chOff x="0" y="0"/>
            <a:chExt cx="19100800" cy="190500"/>
          </a:xfrm>
        </p:grpSpPr>
        <p:sp>
          <p:nvSpPr>
            <p:cNvPr name="Freeform 9" id="9"/>
            <p:cNvSpPr/>
            <p:nvPr/>
          </p:nvSpPr>
          <p:spPr>
            <a:xfrm flipH="false" flipV="false" rot="0">
              <a:off x="0" y="0"/>
              <a:ext cx="19100419" cy="189484"/>
            </a:xfrm>
            <a:custGeom>
              <a:avLst/>
              <a:gdLst/>
              <a:ahLst/>
              <a:cxnLst/>
              <a:rect r="r" b="b" t="t" l="l"/>
              <a:pathLst>
                <a:path h="189484" w="19100419">
                  <a:moveTo>
                    <a:pt x="19100419" y="0"/>
                  </a:moveTo>
                  <a:lnTo>
                    <a:pt x="0" y="0"/>
                  </a:lnTo>
                  <a:lnTo>
                    <a:pt x="0" y="189484"/>
                  </a:lnTo>
                  <a:lnTo>
                    <a:pt x="19100419" y="189484"/>
                  </a:lnTo>
                  <a:lnTo>
                    <a:pt x="19100419" y="0"/>
                  </a:lnTo>
                  <a:close/>
                </a:path>
              </a:pathLst>
            </a:custGeom>
            <a:solidFill>
              <a:srgbClr val="E99213"/>
            </a:solidFill>
          </p:spPr>
        </p:sp>
      </p:grpSp>
      <p:grpSp>
        <p:nvGrpSpPr>
          <p:cNvPr name="Group 10" id="10"/>
          <p:cNvGrpSpPr/>
          <p:nvPr/>
        </p:nvGrpSpPr>
        <p:grpSpPr>
          <a:xfrm rot="0">
            <a:off x="0" y="9715500"/>
            <a:ext cx="14325600" cy="142875"/>
            <a:chOff x="0" y="0"/>
            <a:chExt cx="19100800" cy="190500"/>
          </a:xfrm>
        </p:grpSpPr>
        <p:sp>
          <p:nvSpPr>
            <p:cNvPr name="Freeform 11" id="11"/>
            <p:cNvSpPr/>
            <p:nvPr/>
          </p:nvSpPr>
          <p:spPr>
            <a:xfrm flipH="false" flipV="false" rot="0">
              <a:off x="0" y="0"/>
              <a:ext cx="19100419" cy="189484"/>
            </a:xfrm>
            <a:custGeom>
              <a:avLst/>
              <a:gdLst/>
              <a:ahLst/>
              <a:cxnLst/>
              <a:rect r="r" b="b" t="t" l="l"/>
              <a:pathLst>
                <a:path h="189484" w="19100419">
                  <a:moveTo>
                    <a:pt x="19100419" y="0"/>
                  </a:moveTo>
                  <a:lnTo>
                    <a:pt x="0" y="0"/>
                  </a:lnTo>
                  <a:lnTo>
                    <a:pt x="0" y="189484"/>
                  </a:lnTo>
                  <a:lnTo>
                    <a:pt x="19100419" y="189484"/>
                  </a:lnTo>
                  <a:lnTo>
                    <a:pt x="19100419" y="0"/>
                  </a:lnTo>
                  <a:close/>
                </a:path>
              </a:pathLst>
            </a:custGeom>
            <a:solidFill>
              <a:srgbClr val="1D24AD"/>
            </a:solidFill>
          </p:spPr>
        </p:sp>
      </p:grpSp>
      <p:grpSp>
        <p:nvGrpSpPr>
          <p:cNvPr name="Group 12" id="12"/>
          <p:cNvGrpSpPr/>
          <p:nvPr/>
        </p:nvGrpSpPr>
        <p:grpSpPr>
          <a:xfrm rot="0">
            <a:off x="16459200" y="9944100"/>
            <a:ext cx="1828800" cy="114300"/>
            <a:chOff x="0" y="0"/>
            <a:chExt cx="2438400" cy="152400"/>
          </a:xfrm>
        </p:grpSpPr>
        <p:sp>
          <p:nvSpPr>
            <p:cNvPr name="Freeform 13" id="13"/>
            <p:cNvSpPr/>
            <p:nvPr/>
          </p:nvSpPr>
          <p:spPr>
            <a:xfrm flipH="false" flipV="false" rot="0">
              <a:off x="0" y="0"/>
              <a:ext cx="2437638" cy="151384"/>
            </a:xfrm>
            <a:custGeom>
              <a:avLst/>
              <a:gdLst/>
              <a:ahLst/>
              <a:cxnLst/>
              <a:rect r="r" b="b" t="t" l="l"/>
              <a:pathLst>
                <a:path h="151384" w="2437638">
                  <a:moveTo>
                    <a:pt x="2437638" y="0"/>
                  </a:moveTo>
                  <a:lnTo>
                    <a:pt x="0" y="0"/>
                  </a:lnTo>
                  <a:lnTo>
                    <a:pt x="0" y="151384"/>
                  </a:lnTo>
                  <a:lnTo>
                    <a:pt x="2437638" y="151384"/>
                  </a:lnTo>
                  <a:lnTo>
                    <a:pt x="2437638" y="0"/>
                  </a:lnTo>
                  <a:close/>
                </a:path>
              </a:pathLst>
            </a:custGeom>
            <a:solidFill>
              <a:srgbClr val="E99213"/>
            </a:solidFill>
          </p:spPr>
        </p:sp>
      </p:grpSp>
      <p:grpSp>
        <p:nvGrpSpPr>
          <p:cNvPr name="Group 14" id="14"/>
          <p:cNvGrpSpPr/>
          <p:nvPr/>
        </p:nvGrpSpPr>
        <p:grpSpPr>
          <a:xfrm rot="0">
            <a:off x="16459200" y="9715500"/>
            <a:ext cx="1828800" cy="114300"/>
            <a:chOff x="0" y="0"/>
            <a:chExt cx="2438400" cy="152400"/>
          </a:xfrm>
        </p:grpSpPr>
        <p:sp>
          <p:nvSpPr>
            <p:cNvPr name="Freeform 15" id="15"/>
            <p:cNvSpPr/>
            <p:nvPr/>
          </p:nvSpPr>
          <p:spPr>
            <a:xfrm flipH="false" flipV="false" rot="0">
              <a:off x="0" y="0"/>
              <a:ext cx="2437638" cy="151384"/>
            </a:xfrm>
            <a:custGeom>
              <a:avLst/>
              <a:gdLst/>
              <a:ahLst/>
              <a:cxnLst/>
              <a:rect r="r" b="b" t="t" l="l"/>
              <a:pathLst>
                <a:path h="151384" w="2437638">
                  <a:moveTo>
                    <a:pt x="2437638" y="0"/>
                  </a:moveTo>
                  <a:lnTo>
                    <a:pt x="0" y="0"/>
                  </a:lnTo>
                  <a:lnTo>
                    <a:pt x="0" y="151384"/>
                  </a:lnTo>
                  <a:lnTo>
                    <a:pt x="2437638" y="151384"/>
                  </a:lnTo>
                  <a:lnTo>
                    <a:pt x="2437638" y="0"/>
                  </a:lnTo>
                  <a:close/>
                </a:path>
              </a:pathLst>
            </a:custGeom>
            <a:solidFill>
              <a:srgbClr val="1D24AD"/>
            </a:solidFill>
          </p:spPr>
        </p:sp>
      </p:grpSp>
      <p:sp>
        <p:nvSpPr>
          <p:cNvPr name="TextBox 16" id="16"/>
          <p:cNvSpPr txBox="true"/>
          <p:nvPr/>
        </p:nvSpPr>
        <p:spPr>
          <a:xfrm rot="0">
            <a:off x="7258050" y="250825"/>
            <a:ext cx="3771900" cy="942308"/>
          </a:xfrm>
          <a:prstGeom prst="rect">
            <a:avLst/>
          </a:prstGeom>
        </p:spPr>
        <p:txBody>
          <a:bodyPr anchor="t" rtlCol="false" tIns="0" lIns="0" bIns="0" rIns="0">
            <a:spAutoFit/>
          </a:bodyPr>
          <a:lstStyle/>
          <a:p>
            <a:pPr algn="ctr">
              <a:lnSpc>
                <a:spcPts val="6480"/>
              </a:lnSpc>
            </a:pPr>
            <a:r>
              <a:rPr lang="en-US" b="true" sz="5400" spc="-7">
                <a:solidFill>
                  <a:srgbClr val="FFFFFF"/>
                </a:solidFill>
                <a:latin typeface="Times New Roman MT Bold"/>
                <a:ea typeface="Times New Roman MT Bold"/>
                <a:cs typeface="Times New Roman MT Bold"/>
                <a:sym typeface="Times New Roman MT Bold"/>
              </a:rPr>
              <a:t>References</a:t>
            </a:r>
          </a:p>
        </p:txBody>
      </p:sp>
      <p:sp>
        <p:nvSpPr>
          <p:cNvPr name="TextBox 17" id="17"/>
          <p:cNvSpPr txBox="true"/>
          <p:nvPr/>
        </p:nvSpPr>
        <p:spPr>
          <a:xfrm rot="0">
            <a:off x="1635121" y="2182479"/>
            <a:ext cx="14447520" cy="6877050"/>
          </a:xfrm>
          <a:prstGeom prst="rect">
            <a:avLst/>
          </a:prstGeom>
        </p:spPr>
        <p:txBody>
          <a:bodyPr anchor="t" rtlCol="false" tIns="0" lIns="0" bIns="0" rIns="0">
            <a:spAutoFit/>
          </a:bodyPr>
          <a:lstStyle/>
          <a:p>
            <a:pPr algn="just">
              <a:lnSpc>
                <a:spcPts val="3120"/>
              </a:lnSpc>
            </a:pPr>
            <a:r>
              <a:rPr lang="en-US" sz="2600">
                <a:solidFill>
                  <a:srgbClr val="333333"/>
                </a:solidFill>
                <a:latin typeface="Calibri (MS)"/>
                <a:ea typeface="Calibri (MS)"/>
                <a:cs typeface="Calibri (MS)"/>
                <a:sym typeface="Calibri (MS)"/>
              </a:rPr>
              <a:t>1. S. Malini, R. R. Hariharan, R. Naveen Kumar, R. Ragul, and S. Vijay Prabhu, “Smart Wireless Resonant Charging of Electric Vehicles (EV),” 2024 10th International Conference on Advanced Computing and Communication Systems (ICACCS), Coimbatore, India, 2024, pp. 919–923, doi: 10.1109/ICACCS60874.2024.10717057</a:t>
            </a:r>
          </a:p>
          <a:p>
            <a:pPr algn="just">
              <a:lnSpc>
                <a:spcPts val="1199"/>
              </a:lnSpc>
            </a:pPr>
          </a:p>
          <a:p>
            <a:pPr algn="just">
              <a:lnSpc>
                <a:spcPts val="3120"/>
              </a:lnSpc>
            </a:pPr>
            <a:r>
              <a:rPr lang="en-US" sz="2600">
                <a:solidFill>
                  <a:srgbClr val="333333"/>
                </a:solidFill>
                <a:latin typeface="Calibri (MS)"/>
                <a:ea typeface="Calibri (MS)"/>
                <a:cs typeface="Calibri (MS)"/>
                <a:sym typeface="Calibri (MS)"/>
              </a:rPr>
              <a:t>2. Wireless Power Transfer for EVs – IJAREEIE K. Rajkumar, R. Kumar, and S. Praveen, “Wireless Power Transfer for Electric Vehicles Using Resonant Inductive Coupling,” International Journal of Advanced Research in Electrical, Electronics and Instrumentation Engineering, vol. 6, no. 10, pp. 7768–7773, 2017.</a:t>
            </a:r>
          </a:p>
          <a:p>
            <a:pPr algn="just">
              <a:lnSpc>
                <a:spcPts val="1199"/>
              </a:lnSpc>
            </a:pPr>
          </a:p>
          <a:p>
            <a:pPr algn="just">
              <a:lnSpc>
                <a:spcPts val="3120"/>
              </a:lnSpc>
            </a:pPr>
            <a:r>
              <a:rPr lang="en-US" sz="2600">
                <a:solidFill>
                  <a:srgbClr val="000000"/>
                </a:solidFill>
                <a:latin typeface="Calibri (MS)"/>
                <a:ea typeface="Calibri (MS)"/>
                <a:cs typeface="Calibri (MS)"/>
                <a:sym typeface="Calibri (MS)"/>
              </a:rPr>
              <a:t>3.</a:t>
            </a:r>
            <a:r>
              <a:rPr lang="en-US" sz="2600">
                <a:solidFill>
                  <a:srgbClr val="333333"/>
                </a:solidFill>
                <a:latin typeface="Calibri (MS)"/>
                <a:ea typeface="Calibri (MS)"/>
                <a:cs typeface="Calibri (MS)"/>
                <a:sym typeface="Calibri (MS)"/>
              </a:rPr>
              <a:t> E. Ayisire, A. El-Shahat, and A. Sharaf,</a:t>
            </a:r>
          </a:p>
          <a:p>
            <a:pPr algn="just">
              <a:lnSpc>
                <a:spcPts val="3120"/>
              </a:lnSpc>
            </a:pPr>
            <a:r>
              <a:rPr lang="en-US" sz="2600">
                <a:solidFill>
                  <a:srgbClr val="333333"/>
                </a:solidFill>
                <a:latin typeface="Calibri (MS)"/>
                <a:ea typeface="Calibri (MS)"/>
                <a:cs typeface="Calibri (MS)"/>
                <a:sym typeface="Calibri (MS)"/>
              </a:rPr>
              <a:t> “Magnetic Resonance Coupling Modelling for Electric Vehicles Wireless Charging,”</a:t>
            </a:r>
          </a:p>
          <a:p>
            <a:pPr algn="just">
              <a:lnSpc>
                <a:spcPts val="3120"/>
              </a:lnSpc>
            </a:pPr>
            <a:r>
              <a:rPr lang="en-US" sz="2600">
                <a:solidFill>
                  <a:srgbClr val="333333"/>
                </a:solidFill>
                <a:latin typeface="Calibri (MS)"/>
                <a:ea typeface="Calibri (MS)"/>
                <a:cs typeface="Calibri (MS)"/>
                <a:sym typeface="Calibri (MS)"/>
              </a:rPr>
              <a:t> in Proc. IEEE Conference on Power Electronics, Georgia Southern University, USA, 2018,</a:t>
            </a:r>
          </a:p>
          <a:p>
            <a:pPr algn="just">
              <a:lnSpc>
                <a:spcPts val="1199"/>
              </a:lnSpc>
            </a:pPr>
          </a:p>
          <a:p>
            <a:pPr algn="just">
              <a:lnSpc>
                <a:spcPts val="3120"/>
              </a:lnSpc>
            </a:pPr>
            <a:r>
              <a:rPr lang="en-US" sz="2600">
                <a:solidFill>
                  <a:srgbClr val="333333"/>
                </a:solidFill>
                <a:latin typeface="Calibri (MS)"/>
                <a:ea typeface="Calibri (MS)"/>
                <a:cs typeface="Calibri (MS)"/>
                <a:sym typeface="Calibri (MS)"/>
              </a:rPr>
              <a:t>4. Bukya, R., &amp; Mangu, B. (2022). Wireless EV Battery Charging system using circular-square coupled coils with interoperability and misalignments. International Journal of Engineering &amp; Computer Science &amp; Electronics, 14, 6080–6096.</a:t>
            </a:r>
          </a:p>
          <a:p>
            <a:pPr algn="just">
              <a:lnSpc>
                <a:spcPts val="1199"/>
              </a:lnSpc>
            </a:pPr>
          </a:p>
          <a:p>
            <a:pPr algn="just">
              <a:lnSpc>
                <a:spcPts val="3120"/>
              </a:lnSpc>
            </a:pPr>
            <a:r>
              <a:rPr lang="en-US" sz="2600">
                <a:solidFill>
                  <a:srgbClr val="000000"/>
                </a:solidFill>
                <a:latin typeface="Calibri (MS)"/>
                <a:ea typeface="Calibri (MS)"/>
                <a:cs typeface="Calibri (MS)"/>
                <a:sym typeface="Calibri (MS)"/>
              </a:rPr>
              <a:t>5.</a:t>
            </a:r>
            <a:r>
              <a:rPr lang="en-US" sz="2600">
                <a:solidFill>
                  <a:srgbClr val="333333"/>
                </a:solidFill>
                <a:latin typeface="Calibri (MS)"/>
                <a:ea typeface="Calibri (MS)"/>
                <a:cs typeface="Calibri (MS)"/>
                <a:sym typeface="Calibri (MS)"/>
              </a:rPr>
              <a:t> A. El-Shahat and E. Ayisire,</a:t>
            </a:r>
          </a:p>
          <a:p>
            <a:pPr algn="just">
              <a:lnSpc>
                <a:spcPts val="3120"/>
              </a:lnSpc>
            </a:pPr>
            <a:r>
              <a:rPr lang="en-US" sz="2600">
                <a:solidFill>
                  <a:srgbClr val="333333"/>
                </a:solidFill>
                <a:latin typeface="Calibri (MS)"/>
                <a:ea typeface="Calibri (MS)"/>
                <a:cs typeface="Calibri (MS)"/>
                <a:sym typeface="Calibri (MS)"/>
              </a:rPr>
              <a:t> “An Adaptive Resonant Inductive Wireless Charging System for Electric Vehicles,” AIMS Energy, vol. 13, no. 2, pp. 345–364, Feb. 2025, doi: 10.3934/energy.2025023.</a:t>
            </a:r>
          </a:p>
        </p:txBody>
      </p:sp>
      <p:grpSp>
        <p:nvGrpSpPr>
          <p:cNvPr name="Group 18" id="18"/>
          <p:cNvGrpSpPr>
            <a:grpSpLocks noChangeAspect="true"/>
          </p:cNvGrpSpPr>
          <p:nvPr/>
        </p:nvGrpSpPr>
        <p:grpSpPr>
          <a:xfrm rot="0">
            <a:off x="14414500" y="9644064"/>
            <a:ext cx="1892299" cy="528638"/>
            <a:chOff x="0" y="0"/>
            <a:chExt cx="2523066" cy="704850"/>
          </a:xfrm>
        </p:grpSpPr>
        <p:sp>
          <p:nvSpPr>
            <p:cNvPr name="Freeform 19" id="19"/>
            <p:cNvSpPr/>
            <p:nvPr/>
          </p:nvSpPr>
          <p:spPr>
            <a:xfrm flipH="false" flipV="false" rot="0">
              <a:off x="0" y="0"/>
              <a:ext cx="2523109" cy="704850"/>
            </a:xfrm>
            <a:custGeom>
              <a:avLst/>
              <a:gdLst/>
              <a:ahLst/>
              <a:cxnLst/>
              <a:rect r="r" b="b" t="t" l="l"/>
              <a:pathLst>
                <a:path h="704850" w="2523109">
                  <a:moveTo>
                    <a:pt x="0" y="0"/>
                  </a:moveTo>
                  <a:lnTo>
                    <a:pt x="2523109" y="0"/>
                  </a:lnTo>
                  <a:lnTo>
                    <a:pt x="2523109" y="704850"/>
                  </a:lnTo>
                  <a:lnTo>
                    <a:pt x="0" y="704850"/>
                  </a:lnTo>
                  <a:lnTo>
                    <a:pt x="0" y="0"/>
                  </a:lnTo>
                  <a:close/>
                </a:path>
              </a:pathLst>
            </a:custGeom>
            <a:blipFill>
              <a:blip r:embed="rId2"/>
              <a:stretch>
                <a:fillRect l="0" t="-17417" r="0" b="-17966"/>
              </a:stretch>
            </a:blipFill>
          </p:spPr>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DAG92SoqvaA</dc:identifier>
  <dcterms:modified xsi:type="dcterms:W3CDTF">2011-08-01T06:04:30Z</dcterms:modified>
  <cp:revision>1</cp:revision>
  <dc:title>Final Year Project</dc:title>
</cp:coreProperties>
</file>